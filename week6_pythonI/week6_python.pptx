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307" r:id="rId3"/>
    <p:sldId id="321" r:id="rId4"/>
    <p:sldId id="315" r:id="rId5"/>
    <p:sldId id="317" r:id="rId6"/>
    <p:sldId id="309" r:id="rId7"/>
    <p:sldId id="310" r:id="rId8"/>
    <p:sldId id="322" r:id="rId9"/>
    <p:sldId id="314" r:id="rId10"/>
    <p:sldId id="311" r:id="rId11"/>
    <p:sldId id="316" r:id="rId12"/>
    <p:sldId id="308" r:id="rId13"/>
    <p:sldId id="318" r:id="rId14"/>
    <p:sldId id="286" r:id="rId15"/>
    <p:sldId id="32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777"/>
    <p:restoredTop sz="94773"/>
  </p:normalViewPr>
  <p:slideViewPr>
    <p:cSldViewPr snapToGrid="0" snapToObjects="1">
      <p:cViewPr varScale="1">
        <p:scale>
          <a:sx n="114" d="100"/>
          <a:sy n="114" d="100"/>
        </p:scale>
        <p:origin x="17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77398-3147-2349-91B4-8DD464C64BCA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3CC19-939B-124D-AEB5-0A0C0D7EE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50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09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67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2AC52-CB45-1649-A5EB-B5CF5A3F0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F78E9D-C946-7A4C-BF8A-A3EBB35FF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D6166-02E5-7E48-ABFF-46975656F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09ADA-4759-6640-8030-BF59E32DD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92F1B-E422-FA4E-BB44-06168A508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79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B5E69-8338-254E-8CB3-0AD781CE3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F2BA0-BB82-FB41-9875-80607573B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96E44-51FF-E448-BB1A-64D69E30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B8095-2CFE-2142-BCE0-53D0AB86E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2C08A-3E24-3A48-BAF0-6ED32C6F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76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01160-8C44-AD4D-A8FC-A902B52C4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43547-0854-2A48-A8E4-49C0F08D6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012E7-A8B9-4C4D-A582-46905F3BF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DBFC0-F547-ED45-BC46-EE531F25B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2DE46-4008-C740-A5E6-4751DAAE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62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52C79-C0DA-5D4A-B623-F86683A42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528E3-584E-5446-AB18-C41851557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23828-D36F-5A4B-9531-29AB9D2BD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A7106-EF07-6944-9C4D-9E64A5E45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C1322-F2CE-4F40-95E4-6002A2D89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D561D-479C-ED4B-A607-89A07A372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42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BE64-87ED-074A-885A-47F4550D6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1EE5E-23A8-6F46-9416-FB3F27D13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E83D5-ECA7-9241-AB62-5865B02EB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6B87C9-900D-6441-80BF-16A24478F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5A0EC-8846-B84C-B1A8-519BA673D4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48976A-FB57-2C47-8B02-41354D203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014E1-B8E5-504F-9082-9661A937E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258CF4-6692-FB49-851F-8CD767ED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09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9AB3-B693-8C43-B380-3032E709B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042C3-7D43-1C46-A244-6ED4676FC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0058E-E573-E747-A4EB-43FAE07D4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892F4-45F0-7F4F-AF80-C97635033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0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74FB97-29A8-BB4F-8E88-EC94F4D0B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849ED1-F055-DC43-B449-BEE1EDFA2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FC88B-D1BC-C848-933C-25838CEC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67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B21D-B04E-CD47-820A-933D2B929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399CA-70A6-674F-9AA5-C6E33C201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0C7BD-1368-8F4D-89A8-581FAF8C7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00B65-5B56-EA4E-822C-129388242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F5739-E635-AB42-A028-B278F6302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9AFFE-663D-0F46-97B4-1971EAE3C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40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A5B5F-093B-7D4E-99F7-F87CCCA38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5AB09E-5DDD-9447-B3CC-06C03ACD2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B95A2-5B04-554A-824D-CF2D2FD63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C7B56-1408-4B46-A30D-3FD6FCC43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10950-AC5D-4543-A022-8E6C21CEA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5C943-2D9A-3246-A7C7-125F15E8B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85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24A5C-C2B1-D849-AAE4-4633476E6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6A700-22C5-BE41-A1C7-C61E5CA1A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6B2EE-11C3-BF4F-84CA-D3029C011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55669-F17E-BE42-9E3C-BFEB4F483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F1771-419A-5840-AD78-695F0CE0B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1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0CADF0-14B8-DE4F-8F9E-7C49F5DB8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41B6C-9A82-1049-9B44-0E5CF50E1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E112F-A19D-284F-B6AE-3D78ED141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AB3CD-1B48-4F48-9786-422BB15A6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A4695-26F4-D741-B753-A435D632F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38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A9701-7235-5043-BD0A-3A8DAB29D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C5391-72DC-D047-9FD1-4B9549494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38E62-EECD-A847-9806-E9C1757CA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F0107-2D27-914A-9F22-DFB09E04F05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70979-A224-D14F-989C-CB295CC8B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5D838-C43C-8B4C-9943-2B0BEFEFB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60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8EFA14-657C-6645-A65E-C8CB45925376}"/>
              </a:ext>
            </a:extLst>
          </p:cNvPr>
          <p:cNvSpPr txBox="1"/>
          <p:nvPr/>
        </p:nvSpPr>
        <p:spPr>
          <a:xfrm>
            <a:off x="1636285" y="1250762"/>
            <a:ext cx="4062331" cy="5293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I. </a:t>
            </a:r>
            <a:r>
              <a:rPr lang="en-US" sz="2600" dirty="0">
                <a:latin typeface="Helvetica Light" panose="020B0403020202020204" pitchFamily="34" charset="0"/>
              </a:rPr>
              <a:t>First script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II.  </a:t>
            </a:r>
            <a:r>
              <a:rPr lang="en-US" sz="2600" dirty="0">
                <a:latin typeface="Helvetica Light" panose="020B0403020202020204" pitchFamily="34" charset="0"/>
              </a:rPr>
              <a:t>Strings, floats, integers</a:t>
            </a:r>
          </a:p>
          <a:p>
            <a:pPr marL="571500" indent="-571500">
              <a:buFontTx/>
              <a:buAutoNum type="romanUcPeriod"/>
            </a:pPr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III. </a:t>
            </a:r>
            <a:r>
              <a:rPr lang="en-US" sz="2600" dirty="0">
                <a:latin typeface="Helvetica Light" panose="020B0403020202020204" pitchFamily="34" charset="0"/>
              </a:rPr>
              <a:t>String functions</a:t>
            </a:r>
          </a:p>
          <a:p>
            <a:pPr marL="571500" indent="-571500">
              <a:buFontTx/>
              <a:buAutoNum type="romanUcPeriod"/>
            </a:pPr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IV. </a:t>
            </a:r>
            <a:r>
              <a:rPr lang="en-US" sz="2600" dirty="0">
                <a:latin typeface="Helvetica Light" panose="020B0403020202020204" pitchFamily="34" charset="0"/>
              </a:rPr>
              <a:t>Interactive mode</a:t>
            </a:r>
          </a:p>
          <a:p>
            <a:pPr marL="571500" indent="-571500">
              <a:buAutoNum type="romanUcPeriod"/>
            </a:pPr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V.  </a:t>
            </a:r>
            <a:r>
              <a:rPr lang="en-US" sz="2600" dirty="0">
                <a:latin typeface="Helvetica Light" panose="020B0403020202020204" pitchFamily="34" charset="0"/>
              </a:rPr>
              <a:t>Float precision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VI. </a:t>
            </a:r>
            <a:r>
              <a:rPr lang="en-US" sz="2600" dirty="0">
                <a:latin typeface="Helvetica Light" panose="020B0403020202020204" pitchFamily="34" charset="0"/>
              </a:rPr>
              <a:t>Some practice scripts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pPr marL="285750" indent="-28575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86E08-8C57-D048-B2A8-4EC03A58BADC}"/>
              </a:ext>
            </a:extLst>
          </p:cNvPr>
          <p:cNvSpPr txBox="1"/>
          <p:nvPr/>
        </p:nvSpPr>
        <p:spPr>
          <a:xfrm>
            <a:off x="3115267" y="288627"/>
            <a:ext cx="650851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>
                <a:latin typeface="Helvetica Light" panose="020B0403020202020204" pitchFamily="34" charset="0"/>
              </a:rPr>
              <a:t>Week 6: </a:t>
            </a:r>
            <a:r>
              <a:rPr lang="en-US" sz="3300" dirty="0">
                <a:latin typeface="Helvetica Light" panose="020B0403020202020204" pitchFamily="34" charset="0"/>
              </a:rPr>
              <a:t>Getting started in python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B22C78-12BF-8049-A004-AD24A12D54C7}"/>
              </a:ext>
            </a:extLst>
          </p:cNvPr>
          <p:cNvSpPr txBox="1"/>
          <p:nvPr/>
        </p:nvSpPr>
        <p:spPr>
          <a:xfrm>
            <a:off x="6381176" y="4362345"/>
            <a:ext cx="378982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err="1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Python_I_primer.ipynb</a:t>
            </a:r>
            <a:r>
              <a:rPr lang="en-US" sz="2400" b="1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, </a:t>
            </a:r>
          </a:p>
          <a:p>
            <a:r>
              <a:rPr lang="en-US" sz="2400" b="1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assignment_python1.md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5F610B-DD7D-DB4C-8F25-DCD1DFF45D17}"/>
              </a:ext>
            </a:extLst>
          </p:cNvPr>
          <p:cNvSpPr txBox="1"/>
          <p:nvPr/>
        </p:nvSpPr>
        <p:spPr>
          <a:xfrm>
            <a:off x="6381176" y="3283114"/>
            <a:ext cx="208422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For this week:</a:t>
            </a:r>
          </a:p>
        </p:txBody>
      </p:sp>
    </p:spTree>
    <p:extLst>
      <p:ext uri="{BB962C8B-B14F-4D97-AF65-F5344CB8AC3E}">
        <p14:creationId xmlns:p14="http://schemas.microsoft.com/office/powerpoint/2010/main" val="3189975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E847A6-122F-D744-AC71-CABE3ECDFD5B}"/>
              </a:ext>
            </a:extLst>
          </p:cNvPr>
          <p:cNvSpPr txBox="1"/>
          <p:nvPr/>
        </p:nvSpPr>
        <p:spPr>
          <a:xfrm>
            <a:off x="3724867" y="362200"/>
            <a:ext cx="357020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First python script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187775-7986-AA41-B214-319438F36EFA}"/>
              </a:ext>
            </a:extLst>
          </p:cNvPr>
          <p:cNvSpPr/>
          <p:nvPr/>
        </p:nvSpPr>
        <p:spPr>
          <a:xfrm>
            <a:off x="815547" y="1254261"/>
            <a:ext cx="10589740" cy="2308324"/>
          </a:xfrm>
          <a:prstGeom prst="rect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#!/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/bin/env python3</a:t>
            </a:r>
          </a:p>
          <a:p>
            <a:endParaRPr lang="en-US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#this is a comment: testing my first program with a simple print statement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("I’m ready to learn python, and this is step 1")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2F382C-760A-0840-9B1A-3C1167D7F25E}"/>
              </a:ext>
            </a:extLst>
          </p:cNvPr>
          <p:cNvSpPr/>
          <p:nvPr/>
        </p:nvSpPr>
        <p:spPr>
          <a:xfrm>
            <a:off x="786713" y="3952153"/>
            <a:ext cx="10589740" cy="2308324"/>
          </a:xfrm>
          <a:prstGeom prst="rect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the command line:</a:t>
            </a:r>
          </a:p>
          <a:p>
            <a:endParaRPr lang="en-US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python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first_python.py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chmod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u+x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first_python.py</a:t>
            </a:r>
            <a:endParaRPr lang="en-US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./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first_python.py</a:t>
            </a:r>
            <a:endParaRPr lang="en-US" sz="24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14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A66B956-6130-C71B-18EF-5B3D2F39A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17" y="1039876"/>
            <a:ext cx="11766566" cy="519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62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C28B14-71D3-284A-B530-F620DCCC2513}"/>
              </a:ext>
            </a:extLst>
          </p:cNvPr>
          <p:cNvSpPr txBox="1"/>
          <p:nvPr/>
        </p:nvSpPr>
        <p:spPr>
          <a:xfrm>
            <a:off x="4467188" y="278297"/>
            <a:ext cx="32576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Interactive mode</a:t>
            </a:r>
          </a:p>
        </p:txBody>
      </p:sp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650C53A0-E325-1B4A-B632-E145EA1C9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27" y="876324"/>
            <a:ext cx="8663390" cy="5678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A3819C-7CA5-BF45-9CD1-3A9F60B3CBBF}"/>
              </a:ext>
            </a:extLst>
          </p:cNvPr>
          <p:cNvSpPr txBox="1"/>
          <p:nvPr/>
        </p:nvSpPr>
        <p:spPr>
          <a:xfrm>
            <a:off x="9422296" y="1093304"/>
            <a:ext cx="2544286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Enter by simply typing:</a:t>
            </a:r>
          </a:p>
          <a:p>
            <a:endParaRPr lang="en-US" dirty="0"/>
          </a:p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$ python3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406E1E-FB6B-4440-A6B8-A722C51816BC}"/>
              </a:ext>
            </a:extLst>
          </p:cNvPr>
          <p:cNvSpPr txBox="1"/>
          <p:nvPr/>
        </p:nvSpPr>
        <p:spPr>
          <a:xfrm>
            <a:off x="9422296" y="3702522"/>
            <a:ext cx="24549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Useful for testing code while you are building your scripts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995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C28B14-71D3-284A-B530-F620DCCC2513}"/>
              </a:ext>
            </a:extLst>
          </p:cNvPr>
          <p:cNvSpPr txBox="1"/>
          <p:nvPr/>
        </p:nvSpPr>
        <p:spPr>
          <a:xfrm>
            <a:off x="4887977" y="237986"/>
            <a:ext cx="24160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Helvetica Light" panose="020B0403020202020204" pitchFamily="34" charset="0"/>
              </a:rPr>
              <a:t>Ipy</a:t>
            </a:r>
            <a:r>
              <a:rPr lang="en-US" sz="3200" dirty="0">
                <a:latin typeface="Helvetica Light" panose="020B0403020202020204" pitchFamily="34" charset="0"/>
              </a:rPr>
              <a:t> console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A3819C-7CA5-BF45-9CD1-3A9F60B3CBBF}"/>
              </a:ext>
            </a:extLst>
          </p:cNvPr>
          <p:cNvSpPr txBox="1"/>
          <p:nvPr/>
        </p:nvSpPr>
        <p:spPr>
          <a:xfrm>
            <a:off x="9422296" y="1576781"/>
            <a:ext cx="2769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Launch </a:t>
            </a:r>
            <a:r>
              <a:rPr lang="en-US" b="1" dirty="0" err="1">
                <a:latin typeface="Helvetica Light" panose="020B0403020202020204" pitchFamily="34" charset="0"/>
              </a:rPr>
              <a:t>Jupyter</a:t>
            </a:r>
            <a:r>
              <a:rPr lang="en-US" b="1" dirty="0">
                <a:latin typeface="Helvetica Light" panose="020B0403020202020204" pitchFamily="34" charset="0"/>
              </a:rPr>
              <a:t> </a:t>
            </a:r>
            <a:r>
              <a:rPr lang="en-US" b="1" dirty="0" err="1">
                <a:latin typeface="Helvetica Light" panose="020B0403020202020204" pitchFamily="34" charset="0"/>
              </a:rPr>
              <a:t>Qtconsole</a:t>
            </a:r>
            <a:r>
              <a:rPr lang="en-US" b="1" dirty="0">
                <a:latin typeface="Helvetica Light" panose="020B0403020202020204" pitchFamily="34" charset="0"/>
              </a:rPr>
              <a:t> </a:t>
            </a:r>
            <a:r>
              <a:rPr lang="en-US" dirty="0">
                <a:latin typeface="Helvetica Light" panose="020B0403020202020204" pitchFamily="34" charset="0"/>
              </a:rPr>
              <a:t>from Anaconda navigator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406E1E-FB6B-4440-A6B8-A722C51816BC}"/>
              </a:ext>
            </a:extLst>
          </p:cNvPr>
          <p:cNvSpPr txBox="1"/>
          <p:nvPr/>
        </p:nvSpPr>
        <p:spPr>
          <a:xfrm>
            <a:off x="9288347" y="3229556"/>
            <a:ext cx="245496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Amazingly useful for testing code while you are building your scripts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 descr="Text&#10;&#10;Description automatically generated with low confidence">
            <a:extLst>
              <a:ext uri="{FF2B5EF4-FFF2-40B4-BE49-F238E27FC236}">
                <a16:creationId xmlns:a16="http://schemas.microsoft.com/office/drawing/2014/main" id="{74D1C905-9C60-E144-8711-9CB9C8FFF4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974"/>
          <a:stretch/>
        </p:blipFill>
        <p:spPr>
          <a:xfrm>
            <a:off x="775648" y="1051034"/>
            <a:ext cx="4426974" cy="54362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EB4600-4550-CB41-A5C9-110785544103}"/>
              </a:ext>
            </a:extLst>
          </p:cNvPr>
          <p:cNvSpPr txBox="1"/>
          <p:nvPr/>
        </p:nvSpPr>
        <p:spPr>
          <a:xfrm>
            <a:off x="5399633" y="3229556"/>
            <a:ext cx="317949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Functions dually as a terminal window and python interactive prompt, tab complete functionality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788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BEB290-A9D9-A94B-8702-E860D8F938B4}"/>
              </a:ext>
            </a:extLst>
          </p:cNvPr>
          <p:cNvSpPr/>
          <p:nvPr/>
        </p:nvSpPr>
        <p:spPr>
          <a:xfrm>
            <a:off x="1070112" y="2790054"/>
            <a:ext cx="10111410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Team =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lakers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Seq_one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actgaaa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Seq3 = '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atcGGGC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' # single or double quotes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Val = '11.2' 	#something that looks like a float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Sentence = "Joe Burrow is the real deal" </a:t>
            </a:r>
          </a:p>
          <a:p>
            <a:endParaRPr lang="en-US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5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ADF43A-5881-B345-A303-7A2840F28C4F}"/>
              </a:ext>
            </a:extLst>
          </p:cNvPr>
          <p:cNvSpPr txBox="1"/>
          <p:nvPr/>
        </p:nvSpPr>
        <p:spPr>
          <a:xfrm>
            <a:off x="4545735" y="367748"/>
            <a:ext cx="310052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Scalars: strings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82A06A-2B68-2340-8CE4-3FB2C6417880}"/>
              </a:ext>
            </a:extLst>
          </p:cNvPr>
          <p:cNvSpPr txBox="1"/>
          <p:nvPr/>
        </p:nvSpPr>
        <p:spPr>
          <a:xfrm>
            <a:off x="1070112" y="1674347"/>
            <a:ext cx="106378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Assigning </a:t>
            </a:r>
            <a:r>
              <a:rPr lang="en-US" sz="2800" b="1" dirty="0">
                <a:latin typeface="Helvetica Light" panose="020B0403020202020204" pitchFamily="34" charset="0"/>
              </a:rPr>
              <a:t>strings</a:t>
            </a:r>
            <a:r>
              <a:rPr lang="en-US" sz="2800" dirty="0">
                <a:latin typeface="Helvetica Light" panose="020B0403020202020204" pitchFamily="34" charset="0"/>
              </a:rPr>
              <a:t> to variables (requires single or double quotes):</a:t>
            </a:r>
          </a:p>
        </p:txBody>
      </p:sp>
    </p:spTree>
    <p:extLst>
      <p:ext uri="{BB962C8B-B14F-4D97-AF65-F5344CB8AC3E}">
        <p14:creationId xmlns:p14="http://schemas.microsoft.com/office/powerpoint/2010/main" val="3597356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BEB290-A9D9-A94B-8702-E860D8F938B4}"/>
              </a:ext>
            </a:extLst>
          </p:cNvPr>
          <p:cNvSpPr/>
          <p:nvPr/>
        </p:nvSpPr>
        <p:spPr>
          <a:xfrm>
            <a:off x="629478" y="2098933"/>
            <a:ext cx="1048578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Team = "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lakers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CapTeam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Team.upper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#change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lakers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to LAKERS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Seq_one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actgaaa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NewSeq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Seq_one.replace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('a', 't')	# replaces a with t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NewSeq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Seq_one.count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('A') 	# returns a count of match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ADF43A-5881-B345-A303-7A2840F28C4F}"/>
              </a:ext>
            </a:extLst>
          </p:cNvPr>
          <p:cNvSpPr txBox="1"/>
          <p:nvPr/>
        </p:nvSpPr>
        <p:spPr>
          <a:xfrm>
            <a:off x="1934432" y="397565"/>
            <a:ext cx="787587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Scalars: built in string functions/methods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82A06A-2B68-2340-8CE4-3FB2C6417880}"/>
              </a:ext>
            </a:extLst>
          </p:cNvPr>
          <p:cNvSpPr txBox="1"/>
          <p:nvPr/>
        </p:nvSpPr>
        <p:spPr>
          <a:xfrm>
            <a:off x="3614530" y="1286721"/>
            <a:ext cx="4365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Helvetica Light" panose="020B0403020202020204" pitchFamily="34" charset="0"/>
              </a:rPr>
              <a:t>StringName.</a:t>
            </a:r>
            <a:r>
              <a:rPr lang="en-US" sz="2800" b="1" dirty="0" err="1">
                <a:latin typeface="Helvetica Light" panose="020B0403020202020204" pitchFamily="34" charset="0"/>
              </a:rPr>
              <a:t>functionname</a:t>
            </a:r>
            <a:endParaRPr lang="en-US" sz="28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174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BEB290-A9D9-A94B-8702-E860D8F938B4}"/>
              </a:ext>
            </a:extLst>
          </p:cNvPr>
          <p:cNvSpPr/>
          <p:nvPr/>
        </p:nvSpPr>
        <p:spPr>
          <a:xfrm>
            <a:off x="629478" y="2098933"/>
            <a:ext cx="1048578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Team = "lakers"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Team.isalpha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#should return ’True’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Seq_one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actgaaa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NewSeq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Seq_one.strip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(‘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')	# removes ‘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NewSeq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Seq_one.upper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	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NewSeq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				# converts to caps</a:t>
            </a:r>
          </a:p>
          <a:p>
            <a:endParaRPr lang="en-US" sz="24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ADF43A-5881-B345-A303-7A2840F28C4F}"/>
              </a:ext>
            </a:extLst>
          </p:cNvPr>
          <p:cNvSpPr txBox="1"/>
          <p:nvPr/>
        </p:nvSpPr>
        <p:spPr>
          <a:xfrm>
            <a:off x="1934432" y="397565"/>
            <a:ext cx="787587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Scalars: built in string functions/methods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82A06A-2B68-2340-8CE4-3FB2C6417880}"/>
              </a:ext>
            </a:extLst>
          </p:cNvPr>
          <p:cNvSpPr txBox="1"/>
          <p:nvPr/>
        </p:nvSpPr>
        <p:spPr>
          <a:xfrm>
            <a:off x="3614530" y="1286721"/>
            <a:ext cx="4365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Helvetica Light" panose="020B0403020202020204" pitchFamily="34" charset="0"/>
              </a:rPr>
              <a:t>StringName.</a:t>
            </a:r>
            <a:r>
              <a:rPr lang="en-US" sz="2800" b="1" dirty="0" err="1">
                <a:latin typeface="Helvetica Light" panose="020B0403020202020204" pitchFamily="34" charset="0"/>
              </a:rPr>
              <a:t>functionname</a:t>
            </a:r>
            <a:endParaRPr lang="en-US" sz="28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053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2E549D-C5D8-4941-91DE-9E7F6C8AD071}"/>
              </a:ext>
            </a:extLst>
          </p:cNvPr>
          <p:cNvSpPr txBox="1"/>
          <p:nvPr/>
        </p:nvSpPr>
        <p:spPr>
          <a:xfrm>
            <a:off x="3512066" y="516835"/>
            <a:ext cx="535114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Scalars: integers and floats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530E4-B768-AC4D-ACDC-62B63BD9B4B2}"/>
              </a:ext>
            </a:extLst>
          </p:cNvPr>
          <p:cNvSpPr txBox="1"/>
          <p:nvPr/>
        </p:nvSpPr>
        <p:spPr>
          <a:xfrm>
            <a:off x="911326" y="1702907"/>
            <a:ext cx="6221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Integers</a:t>
            </a:r>
            <a:r>
              <a:rPr lang="en-US" sz="2800" dirty="0">
                <a:latin typeface="Helvetica Light" panose="020B0403020202020204" pitchFamily="34" charset="0"/>
              </a:rPr>
              <a:t>: whole numbers (1, 3, 7, -99)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1FAC05-8BA8-6C48-83CD-B0B7FDC5B165}"/>
              </a:ext>
            </a:extLst>
          </p:cNvPr>
          <p:cNvSpPr txBox="1"/>
          <p:nvPr/>
        </p:nvSpPr>
        <p:spPr>
          <a:xfrm>
            <a:off x="911326" y="2487595"/>
            <a:ext cx="9288120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Dig1 = 13		# no quotes for integers</a:t>
            </a:r>
          </a:p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Dig2 = '111'		# quotes make this a string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CE885-7FD3-D144-B706-093579F655EE}"/>
              </a:ext>
            </a:extLst>
          </p:cNvPr>
          <p:cNvSpPr txBox="1"/>
          <p:nvPr/>
        </p:nvSpPr>
        <p:spPr>
          <a:xfrm>
            <a:off x="921264" y="4051855"/>
            <a:ext cx="108366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Floats</a:t>
            </a:r>
            <a:r>
              <a:rPr lang="en-US" sz="2800" dirty="0">
                <a:latin typeface="Helvetica Light" panose="020B0403020202020204" pitchFamily="34" charset="0"/>
              </a:rPr>
              <a:t>: ' floating’ decimal point (all is means is there is a decimal)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A3D566-DF7F-7847-B3E9-7C8801F43BBB}"/>
              </a:ext>
            </a:extLst>
          </p:cNvPr>
          <p:cNvSpPr txBox="1"/>
          <p:nvPr/>
        </p:nvSpPr>
        <p:spPr>
          <a:xfrm>
            <a:off x="884334" y="4802357"/>
            <a:ext cx="9288120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F1 = 1.3333		# no quotes for floats</a:t>
            </a:r>
          </a:p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F2 = '.111'		# quotes make this a string</a:t>
            </a:r>
          </a:p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F3 = float(F2)</a:t>
            </a:r>
          </a:p>
        </p:txBody>
      </p:sp>
    </p:spTree>
    <p:extLst>
      <p:ext uri="{BB962C8B-B14F-4D97-AF65-F5344CB8AC3E}">
        <p14:creationId xmlns:p14="http://schemas.microsoft.com/office/powerpoint/2010/main" val="216098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B6E8E4-FEE0-6748-A507-33295519B353}"/>
              </a:ext>
            </a:extLst>
          </p:cNvPr>
          <p:cNvSpPr/>
          <p:nvPr/>
        </p:nvSpPr>
        <p:spPr>
          <a:xfrm>
            <a:off x="2367169" y="1409878"/>
            <a:ext cx="6813853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300" dirty="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%d</a:t>
            </a:r>
            <a:r>
              <a:rPr lang="en-US" sz="23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300" dirty="0">
                <a:latin typeface="+mj-lt"/>
                <a:ea typeface="Times New Roman" panose="02020603050405020304" pitchFamily="18" charset="0"/>
              </a:rPr>
              <a:t>for an integer, </a:t>
            </a:r>
            <a:r>
              <a:rPr lang="en-US" sz="2300" dirty="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%f</a:t>
            </a:r>
            <a:r>
              <a:rPr lang="en-US" sz="23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300" dirty="0">
                <a:latin typeface="+mj-lt"/>
                <a:ea typeface="Times New Roman" panose="02020603050405020304" pitchFamily="18" charset="0"/>
              </a:rPr>
              <a:t>for a float, and</a:t>
            </a:r>
            <a:r>
              <a:rPr lang="en-US" sz="23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300" dirty="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%s</a:t>
            </a:r>
            <a:r>
              <a:rPr lang="en-US" sz="23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300" dirty="0">
                <a:latin typeface="+mj-lt"/>
                <a:ea typeface="Times New Roman" panose="02020603050405020304" pitchFamily="18" charset="0"/>
              </a:rPr>
              <a:t>for a string. </a:t>
            </a:r>
            <a:endParaRPr lang="en-US" sz="23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3CF459-0F89-D345-AA63-7A331BEB4ACC}"/>
              </a:ext>
            </a:extLst>
          </p:cNvPr>
          <p:cNvSpPr txBox="1"/>
          <p:nvPr/>
        </p:nvSpPr>
        <p:spPr>
          <a:xfrm>
            <a:off x="1752950" y="327991"/>
            <a:ext cx="7800533" cy="10310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b="1" dirty="0">
                <a:latin typeface="Helvetica Light" panose="020B0403020202020204" pitchFamily="34" charset="0"/>
              </a:rPr>
              <a:t>% operator: </a:t>
            </a:r>
          </a:p>
          <a:p>
            <a:pPr algn="ctr"/>
            <a:r>
              <a:rPr lang="en-US" sz="2800" dirty="0">
                <a:latin typeface="Helvetica Light" panose="020B0403020202020204" pitchFamily="34" charset="0"/>
              </a:rPr>
              <a:t>controlling format of scalars in print statements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9F0A66-6705-AA49-B188-62B08748F2C7}"/>
              </a:ext>
            </a:extLst>
          </p:cNvPr>
          <p:cNvSpPr/>
          <p:nvPr/>
        </p:nvSpPr>
        <p:spPr>
          <a:xfrm>
            <a:off x="1085020" y="2925497"/>
            <a:ext cx="9604513" cy="886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Prod = 2/3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 ("2/3 should equal roughly %.3f" % (Prod))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B98B2A-C8E4-5E49-8404-193C135195AE}"/>
              </a:ext>
            </a:extLst>
          </p:cNvPr>
          <p:cNvSpPr/>
          <p:nvPr/>
        </p:nvSpPr>
        <p:spPr>
          <a:xfrm>
            <a:off x="1085020" y="2294809"/>
            <a:ext cx="5259773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300" dirty="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%f </a:t>
            </a:r>
            <a:r>
              <a:rPr lang="en-US" sz="2300" dirty="0">
                <a:latin typeface="Helvetica Light" panose="020B0403020202020204" pitchFamily="34" charset="0"/>
                <a:ea typeface="Courier New" panose="02070309020205020404" pitchFamily="49" charset="0"/>
                <a:cs typeface="Courier New" panose="02070309020205020404" pitchFamily="49" charset="0"/>
              </a:rPr>
              <a:t>controls precision of floats printed.</a:t>
            </a:r>
            <a:endParaRPr lang="en-US" sz="2300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54B938-9C88-534D-9C2B-8106A6BC71DA}"/>
              </a:ext>
            </a:extLst>
          </p:cNvPr>
          <p:cNvSpPr/>
          <p:nvPr/>
        </p:nvSpPr>
        <p:spPr>
          <a:xfrm>
            <a:off x="1085020" y="4347051"/>
            <a:ext cx="9604513" cy="2202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Temp = 72.3</a:t>
            </a:r>
          </a:p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Seq =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ATCCC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Num = 23</a:t>
            </a:r>
            <a:endParaRPr lang="en-US" sz="2400" dirty="0">
              <a:solidFill>
                <a:srgbClr val="000000"/>
              </a:solidFill>
              <a:latin typeface="Courier New" panose="02070309020205020404" pitchFamily="49" charset="0"/>
              <a:ea typeface="Courier New" panose="020703090202050204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print("Primer %d, bases %s, melting point %f" % (Num, Seq, Temp))</a:t>
            </a:r>
          </a:p>
        </p:txBody>
      </p:sp>
    </p:spTree>
    <p:extLst>
      <p:ext uri="{BB962C8B-B14F-4D97-AF65-F5344CB8AC3E}">
        <p14:creationId xmlns:p14="http://schemas.microsoft.com/office/powerpoint/2010/main" val="1979023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0BC4A2-9B62-A242-A5D4-64C574932116}"/>
              </a:ext>
            </a:extLst>
          </p:cNvPr>
          <p:cNvSpPr txBox="1"/>
          <p:nvPr/>
        </p:nvSpPr>
        <p:spPr>
          <a:xfrm>
            <a:off x="2691497" y="449207"/>
            <a:ext cx="314701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help() and </a:t>
            </a:r>
            <a:r>
              <a:rPr lang="en-US" sz="3300" b="1" dirty="0" err="1">
                <a:latin typeface="Helvetica Light" panose="020B0403020202020204" pitchFamily="34" charset="0"/>
              </a:rPr>
              <a:t>dir</a:t>
            </a:r>
            <a:r>
              <a:rPr lang="en-US" sz="3300" b="1" dirty="0">
                <a:latin typeface="Helvetica Light" panose="020B0403020202020204" pitchFamily="34" charset="0"/>
              </a:rPr>
              <a:t>()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512135-4E26-EA4B-8F81-2F5B981B57B4}"/>
              </a:ext>
            </a:extLst>
          </p:cNvPr>
          <p:cNvSpPr/>
          <p:nvPr/>
        </p:nvSpPr>
        <p:spPr>
          <a:xfrm>
            <a:off x="1370622" y="1452770"/>
            <a:ext cx="78309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help(str)		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# provides brief description of str functions</a:t>
            </a:r>
            <a:endParaRPr lang="en-US" sz="22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 descr="A blackboard sign on a wall&#10;&#10;Description automatically generated">
            <a:extLst>
              <a:ext uri="{FF2B5EF4-FFF2-40B4-BE49-F238E27FC236}">
                <a16:creationId xmlns:a16="http://schemas.microsoft.com/office/drawing/2014/main" id="{CB5ED61C-480B-1F4F-BC6B-08EE1FCCC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17" y="2699692"/>
            <a:ext cx="6279559" cy="37216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5CAE82-27F4-714B-9EFF-7CC1DE322C4C}"/>
              </a:ext>
            </a:extLst>
          </p:cNvPr>
          <p:cNvSpPr txBox="1"/>
          <p:nvPr/>
        </p:nvSpPr>
        <p:spPr>
          <a:xfrm>
            <a:off x="7512689" y="3690730"/>
            <a:ext cx="4483842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Hitting tab after variable name followed by </a:t>
            </a:r>
            <a:r>
              <a:rPr lang="en-US" sz="3500" b="1" dirty="0">
                <a:latin typeface="Helvetica Light" panose="020B0403020202020204" pitchFamily="34" charset="0"/>
              </a:rPr>
              <a:t>.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  <a:r>
              <a:rPr lang="en-US" sz="2400" dirty="0">
                <a:latin typeface="Helvetica Light" panose="020B0403020202020204" pitchFamily="34" charset="0"/>
              </a:rPr>
              <a:t>will list methods available to that variable.</a:t>
            </a:r>
          </a:p>
        </p:txBody>
      </p:sp>
    </p:spTree>
    <p:extLst>
      <p:ext uri="{BB962C8B-B14F-4D97-AF65-F5344CB8AC3E}">
        <p14:creationId xmlns:p14="http://schemas.microsoft.com/office/powerpoint/2010/main" val="1300954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DC5892-0CFC-524E-BB4E-0851726A9AE2}"/>
              </a:ext>
            </a:extLst>
          </p:cNvPr>
          <p:cNvSpPr/>
          <p:nvPr/>
        </p:nvSpPr>
        <p:spPr>
          <a:xfrm>
            <a:off x="457200" y="399030"/>
            <a:ext cx="10849232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Helvetica Light" panose="020B0403020202020204" pitchFamily="34" charset="0"/>
              </a:rPr>
              <a:t>Practice script 2. </a:t>
            </a:r>
            <a:r>
              <a:rPr lang="en-US" sz="2200" dirty="0">
                <a:latin typeface="Helvetica Light" panose="020B0403020202020204" pitchFamily="34" charset="0"/>
              </a:rPr>
              <a:t>Write a python script to calculate expected genotype frequencies in a population under Hardy Weinberg Equilibrium based on known allele frequencies at a gene with TWO alleles. As a reminder, a population under Hardy-Weinberg equilibrium has genotype frequencies predictable from allele frequencies (</a:t>
            </a:r>
            <a:r>
              <a:rPr lang="en-US" sz="2200" b="1" dirty="0">
                <a:latin typeface="Helvetica Light" panose="020B0403020202020204" pitchFamily="34" charset="0"/>
              </a:rPr>
              <a:t>p</a:t>
            </a:r>
            <a:r>
              <a:rPr lang="en-US" sz="2200" dirty="0">
                <a:latin typeface="Helvetica Light" panose="020B0403020202020204" pitchFamily="34" charset="0"/>
              </a:rPr>
              <a:t> and </a:t>
            </a:r>
            <a:r>
              <a:rPr lang="en-US" sz="2200" b="1" dirty="0">
                <a:latin typeface="Helvetica Light" panose="020B0403020202020204" pitchFamily="34" charset="0"/>
              </a:rPr>
              <a:t>q</a:t>
            </a:r>
            <a:r>
              <a:rPr lang="en-US" sz="2200" dirty="0">
                <a:latin typeface="Helvetica Light" panose="020B0403020202020204" pitchFamily="34" charset="0"/>
              </a:rPr>
              <a:t>):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 </a:t>
            </a:r>
          </a:p>
          <a:p>
            <a:r>
              <a:rPr lang="en-US" sz="2200" b="1" dirty="0">
                <a:latin typeface="Helvetica Light" panose="020B0403020202020204" pitchFamily="34" charset="0"/>
              </a:rPr>
              <a:t>p**2 + 2pq + q**2 = 1</a:t>
            </a:r>
          </a:p>
          <a:p>
            <a:endParaRPr lang="en-US" sz="2200" b="1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So, your script needs to return three values: The AA genotype </a:t>
            </a:r>
            <a:r>
              <a:rPr lang="en-US" sz="2200" dirty="0" err="1">
                <a:latin typeface="Helvetica Light" panose="020B0403020202020204" pitchFamily="34" charset="0"/>
              </a:rPr>
              <a:t>freq</a:t>
            </a:r>
            <a:r>
              <a:rPr lang="en-US" sz="2200" dirty="0">
                <a:latin typeface="Helvetica Light" panose="020B0403020202020204" pitchFamily="34" charset="0"/>
              </a:rPr>
              <a:t>: </a:t>
            </a:r>
            <a:r>
              <a:rPr lang="en-US" sz="2200" b="1" dirty="0">
                <a:latin typeface="Helvetica Light" panose="020B0403020202020204" pitchFamily="34" charset="0"/>
              </a:rPr>
              <a:t>p**2</a:t>
            </a:r>
          </a:p>
          <a:p>
            <a:r>
              <a:rPr lang="en-US" sz="2200" b="1" dirty="0">
                <a:latin typeface="Helvetica Light" panose="020B0403020202020204" pitchFamily="34" charset="0"/>
              </a:rPr>
              <a:t>						 The </a:t>
            </a:r>
            <a:r>
              <a:rPr lang="en-US" sz="2200" dirty="0">
                <a:latin typeface="Helvetica Light" panose="020B0403020202020204" pitchFamily="34" charset="0"/>
              </a:rPr>
              <a:t>Aa genotype freq.: </a:t>
            </a:r>
            <a:r>
              <a:rPr lang="en-US" sz="2200" b="1" dirty="0">
                <a:latin typeface="Helvetica Light" panose="020B0403020202020204" pitchFamily="34" charset="0"/>
              </a:rPr>
              <a:t>2pq</a:t>
            </a:r>
          </a:p>
          <a:p>
            <a:r>
              <a:rPr lang="en-US" sz="2200" b="1" dirty="0">
                <a:latin typeface="Helvetica Light" panose="020B0403020202020204" pitchFamily="34" charset="0"/>
              </a:rPr>
              <a:t>						 The</a:t>
            </a:r>
            <a:r>
              <a:rPr lang="en-US" sz="2200" dirty="0">
                <a:latin typeface="Helvetica Light" panose="020B0403020202020204" pitchFamily="34" charset="0"/>
              </a:rPr>
              <a:t> aa genotype freq.: </a:t>
            </a:r>
            <a:r>
              <a:rPr lang="en-US" sz="2200" b="1" dirty="0">
                <a:latin typeface="Helvetica Light" panose="020B0403020202020204" pitchFamily="34" charset="0"/>
              </a:rPr>
              <a:t>q**2 = 1)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9CE7FB-2AD3-1348-8710-44B629CDD5A3}"/>
              </a:ext>
            </a:extLst>
          </p:cNvPr>
          <p:cNvSpPr/>
          <p:nvPr/>
        </p:nvSpPr>
        <p:spPr>
          <a:xfrm>
            <a:off x="362465" y="4215459"/>
            <a:ext cx="11372335" cy="2339102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Helvetica Light" panose="020B0403020202020204" pitchFamily="34" charset="0"/>
              </a:rPr>
              <a:t>Points (hints)</a:t>
            </a:r>
          </a:p>
          <a:p>
            <a:pPr marL="342900" indent="-342900">
              <a:buFontTx/>
              <a:buChar char="-"/>
            </a:pPr>
            <a:r>
              <a:rPr lang="en-US" dirty="0">
                <a:latin typeface="Helvetica Light" panose="020B0403020202020204" pitchFamily="34" charset="0"/>
              </a:rPr>
              <a:t>The program should use the </a:t>
            </a:r>
            <a:r>
              <a:rPr lang="en-US" b="1" dirty="0">
                <a:latin typeface="Helvetica Light" panose="020B0403020202020204" pitchFamily="34" charset="0"/>
              </a:rPr>
              <a:t>input() </a:t>
            </a:r>
            <a:r>
              <a:rPr lang="en-US" dirty="0">
                <a:latin typeface="Helvetica Light" panose="020B0403020202020204" pitchFamily="34" charset="0"/>
              </a:rPr>
              <a:t>function to prompt for the command line entry of two values from the command line.</a:t>
            </a:r>
          </a:p>
          <a:p>
            <a:pPr marL="342900" indent="-342900">
              <a:buFontTx/>
              <a:buChar char="-"/>
            </a:pPr>
            <a:endParaRPr lang="en-US" dirty="0">
              <a:latin typeface="Helvetica Light" panose="020B0403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dirty="0">
                <a:latin typeface="Helvetica Light" panose="020B0403020202020204" pitchFamily="34" charset="0"/>
              </a:rPr>
              <a:t>If you supply two values, e.g., 0.2 and 0.8, python will want to treat these as strings. So, before doing math you will need to convert them to floats </a:t>
            </a:r>
            <a:r>
              <a:rPr lang="en-US" b="1" dirty="0">
                <a:latin typeface="Helvetica Light" panose="020B0403020202020204" pitchFamily="34" charset="0"/>
              </a:rPr>
              <a:t>(A = float(</a:t>
            </a:r>
            <a:r>
              <a:rPr lang="en-US" b="1" dirty="0" err="1">
                <a:latin typeface="Helvetica Light" panose="020B0403020202020204" pitchFamily="34" charset="0"/>
              </a:rPr>
              <a:t>Inputvalue</a:t>
            </a:r>
            <a:r>
              <a:rPr lang="en-US" b="1" dirty="0">
                <a:latin typeface="Helvetica Light" panose="020B0403020202020204" pitchFamily="34" charset="0"/>
              </a:rPr>
              <a:t>))</a:t>
            </a:r>
          </a:p>
          <a:p>
            <a:pPr marL="342900" indent="-342900">
              <a:buFontTx/>
              <a:buChar char="-"/>
            </a:pPr>
            <a:endParaRPr lang="en-US" b="1" dirty="0">
              <a:latin typeface="Helvetica Light" panose="020B0403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dirty="0">
                <a:latin typeface="Helvetica Light" panose="020B0403020202020204" pitchFamily="34" charset="0"/>
              </a:rPr>
              <a:t>As part of this exercise, you will need to control the precision of the floats printed (e.g., % %)</a:t>
            </a:r>
            <a:endParaRPr lang="en-US" b="1" dirty="0">
              <a:latin typeface="Helvetica Light" panose="020B04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FFC77-425C-444A-AB1A-BECD6F3B54C9}"/>
              </a:ext>
            </a:extLst>
          </p:cNvPr>
          <p:cNvSpPr txBox="1"/>
          <p:nvPr/>
        </p:nvSpPr>
        <p:spPr>
          <a:xfrm>
            <a:off x="13234086" y="3484605"/>
            <a:ext cx="1847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35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C2B915-E064-284F-A5DB-4F28686FADAB}"/>
              </a:ext>
            </a:extLst>
          </p:cNvPr>
          <p:cNvSpPr/>
          <p:nvPr/>
        </p:nvSpPr>
        <p:spPr>
          <a:xfrm>
            <a:off x="1397876" y="1836321"/>
            <a:ext cx="7924800" cy="129266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600" dirty="0">
                <a:latin typeface="Courier" pitchFamily="2" charset="0"/>
              </a:rPr>
              <a:t>name3 = input("Enter a string: ")</a:t>
            </a:r>
          </a:p>
          <a:p>
            <a:endParaRPr lang="en-US" sz="2600" dirty="0">
              <a:latin typeface="Courier" pitchFamily="2" charset="0"/>
            </a:endParaRPr>
          </a:p>
          <a:p>
            <a:r>
              <a:rPr lang="en-US" sz="2600" dirty="0">
                <a:latin typeface="Courier" pitchFamily="2" charset="0"/>
              </a:rPr>
              <a:t>print(name3)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46C60C-2780-A249-BFE2-FA1D120D6DB6}"/>
              </a:ext>
            </a:extLst>
          </p:cNvPr>
          <p:cNvSpPr/>
          <p:nvPr/>
        </p:nvSpPr>
        <p:spPr>
          <a:xfrm>
            <a:off x="1397876" y="4140640"/>
            <a:ext cx="7924800" cy="209288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002060"/>
                </a:solidFill>
                <a:latin typeface="Courier" pitchFamily="2" charset="0"/>
              </a:rPr>
              <a:t>‘Enter a string: ‘ prompt will appear at command line. Type a string</a:t>
            </a:r>
          </a:p>
          <a:p>
            <a:endParaRPr lang="en-US" sz="2600" dirty="0">
              <a:solidFill>
                <a:srgbClr val="002060"/>
              </a:solidFill>
              <a:latin typeface="Courier" pitchFamily="2" charset="0"/>
            </a:endParaRPr>
          </a:p>
          <a:p>
            <a:r>
              <a:rPr lang="en-US" sz="2600" dirty="0">
                <a:solidFill>
                  <a:srgbClr val="002060"/>
                </a:solidFill>
                <a:latin typeface="Courier" pitchFamily="2" charset="0"/>
              </a:rPr>
              <a:t>If ‘Burrow’ is typed and Enter hit,</a:t>
            </a:r>
          </a:p>
          <a:p>
            <a:r>
              <a:rPr lang="en-US" sz="2600" dirty="0">
                <a:solidFill>
                  <a:srgbClr val="002060"/>
                </a:solidFill>
                <a:latin typeface="Courier" pitchFamily="2" charset="0"/>
              </a:rPr>
              <a:t>‘Burrow’ should print to screen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9BBFBD-9BEB-1243-BC42-5A02EA92B35E}"/>
              </a:ext>
            </a:extLst>
          </p:cNvPr>
          <p:cNvSpPr/>
          <p:nvPr/>
        </p:nvSpPr>
        <p:spPr>
          <a:xfrm>
            <a:off x="1332303" y="364500"/>
            <a:ext cx="99100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  <a:latin typeface="HELVETICA LIGHT" panose="020B0403020202020204" pitchFamily="34" charset="0"/>
              </a:rPr>
              <a:t>Pulling raw input from the command line </a:t>
            </a:r>
            <a:r>
              <a:rPr lang="en-US" sz="3200" b="1" dirty="0">
                <a:solidFill>
                  <a:srgbClr val="333333"/>
                </a:solidFill>
                <a:latin typeface="Courier" pitchFamily="2" charset="0"/>
              </a:rPr>
              <a:t>(input())</a:t>
            </a:r>
            <a:endParaRPr lang="en-US" sz="3200" b="1" dirty="0">
              <a:solidFill>
                <a:srgbClr val="333333"/>
              </a:solidFill>
              <a:effectLst/>
              <a:latin typeface="Courier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C82C0-485D-454E-AE1B-2D525EBB7573}"/>
              </a:ext>
            </a:extLst>
          </p:cNvPr>
          <p:cNvSpPr txBox="1"/>
          <p:nvPr/>
        </p:nvSpPr>
        <p:spPr>
          <a:xfrm>
            <a:off x="1332303" y="1302050"/>
            <a:ext cx="167065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In Python: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8DC85D-EDA8-5C43-BF1B-DCEEE2CD8A89}"/>
              </a:ext>
            </a:extLst>
          </p:cNvPr>
          <p:cNvSpPr txBox="1"/>
          <p:nvPr/>
        </p:nvSpPr>
        <p:spPr>
          <a:xfrm>
            <a:off x="1332303" y="3648197"/>
            <a:ext cx="396775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002060"/>
                </a:solidFill>
                <a:latin typeface="Helvetica Light" panose="020B0403020202020204" pitchFamily="34" charset="0"/>
              </a:rPr>
              <a:t>At command line prompt:</a:t>
            </a:r>
          </a:p>
        </p:txBody>
      </p:sp>
    </p:spTree>
    <p:extLst>
      <p:ext uri="{BB962C8B-B14F-4D97-AF65-F5344CB8AC3E}">
        <p14:creationId xmlns:p14="http://schemas.microsoft.com/office/powerpoint/2010/main" val="20693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506A35-DA43-FB4C-BEF3-FE4EEC3D95B4}"/>
              </a:ext>
            </a:extLst>
          </p:cNvPr>
          <p:cNvSpPr txBox="1"/>
          <p:nvPr/>
        </p:nvSpPr>
        <p:spPr>
          <a:xfrm>
            <a:off x="882925" y="433160"/>
            <a:ext cx="207140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This week: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A6A57C-3E55-AB49-8F7A-BD8712B63F69}"/>
              </a:ext>
            </a:extLst>
          </p:cNvPr>
          <p:cNvSpPr txBox="1"/>
          <p:nvPr/>
        </p:nvSpPr>
        <p:spPr>
          <a:xfrm>
            <a:off x="782563" y="1541156"/>
            <a:ext cx="1026712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600" dirty="0">
              <a:latin typeface="Helvetica Light" panose="020B0403020202020204" pitchFamily="34" charset="0"/>
            </a:endParaRPr>
          </a:p>
          <a:p>
            <a:pPr marL="514350" indent="-514350">
              <a:buAutoNum type="arabicPeriod"/>
            </a:pPr>
            <a:r>
              <a:rPr lang="en-US" sz="2600" dirty="0">
                <a:latin typeface="Helvetica Light" panose="020B0403020202020204" pitchFamily="34" charset="0"/>
              </a:rPr>
              <a:t>python_1_primer.ipynb</a:t>
            </a:r>
          </a:p>
          <a:p>
            <a:pPr marL="514350" indent="-514350">
              <a:buAutoNum type="arabicPeriod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514350" indent="-514350">
              <a:buFontTx/>
              <a:buAutoNum type="arabicPeriod"/>
            </a:pPr>
            <a:r>
              <a:rPr lang="en-US" sz="2600" dirty="0">
                <a:latin typeface="Helvetica Light" panose="020B0403020202020204" pitchFamily="34" charset="0"/>
              </a:rPr>
              <a:t>assignment_python1.md</a:t>
            </a:r>
          </a:p>
          <a:p>
            <a:pPr lvl="1"/>
            <a:endParaRPr lang="en-US" sz="2600" dirty="0">
              <a:latin typeface="Helvetica Light" panose="020B0403020202020204" pitchFamily="34" charset="0"/>
            </a:endParaRPr>
          </a:p>
          <a:p>
            <a:pPr lvl="1"/>
            <a:r>
              <a:rPr lang="en-US" sz="2600" b="1" dirty="0">
                <a:latin typeface="Helvetica Light" panose="020B0403020202020204" pitchFamily="34" charset="0"/>
              </a:rPr>
              <a:t>Email me code for #2 and #3.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2F650B-8D6C-4741-BB29-74826F1F6CC7}"/>
              </a:ext>
            </a:extLst>
          </p:cNvPr>
          <p:cNvSpPr txBox="1"/>
          <p:nvPr/>
        </p:nvSpPr>
        <p:spPr>
          <a:xfrm>
            <a:off x="882924" y="5069129"/>
            <a:ext cx="21579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Next week: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384E4-4E42-FA41-BC9C-1CEB2899F41A}"/>
              </a:ext>
            </a:extLst>
          </p:cNvPr>
          <p:cNvSpPr txBox="1"/>
          <p:nvPr/>
        </p:nvSpPr>
        <p:spPr>
          <a:xfrm>
            <a:off x="882924" y="5623127"/>
            <a:ext cx="102671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lists, conditionals, loops </a:t>
            </a:r>
          </a:p>
        </p:txBody>
      </p:sp>
    </p:spTree>
    <p:extLst>
      <p:ext uri="{BB962C8B-B14F-4D97-AF65-F5344CB8AC3E}">
        <p14:creationId xmlns:p14="http://schemas.microsoft.com/office/powerpoint/2010/main" val="1633021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506A35-DA43-FB4C-BEF3-FE4EEC3D95B4}"/>
              </a:ext>
            </a:extLst>
          </p:cNvPr>
          <p:cNvSpPr txBox="1"/>
          <p:nvPr/>
        </p:nvSpPr>
        <p:spPr>
          <a:xfrm>
            <a:off x="882925" y="262338"/>
            <a:ext cx="351570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Notes on schedule: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A6A57C-3E55-AB49-8F7A-BD8712B63F69}"/>
              </a:ext>
            </a:extLst>
          </p:cNvPr>
          <p:cNvSpPr txBox="1"/>
          <p:nvPr/>
        </p:nvSpPr>
        <p:spPr>
          <a:xfrm>
            <a:off x="496276" y="1002094"/>
            <a:ext cx="11390924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latin typeface="Helvetica Light" panose="020B0403020202020204" pitchFamily="34" charset="0"/>
              </a:rPr>
              <a:t>I.1-2 pager independent project description along with python3 assignment next week (by 10/15)</a:t>
            </a:r>
          </a:p>
          <a:p>
            <a:pPr marL="514350" indent="-514350">
              <a:buAutoNum type="arabicPeriod"/>
            </a:pPr>
            <a:endParaRPr lang="en-US" sz="2300" dirty="0">
              <a:latin typeface="Helvetica Light" panose="020B0403020202020204" pitchFamily="34" charset="0"/>
            </a:endParaRPr>
          </a:p>
          <a:p>
            <a:r>
              <a:rPr lang="en-US" sz="2300" dirty="0">
                <a:latin typeface="Helvetica Light" panose="020B0403020202020204" pitchFamily="34" charset="0"/>
              </a:rPr>
              <a:t>If you don’t have datasets or specific ideas related to your research, other options might include: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latin typeface="Helvetica Light" panose="020B0403020202020204" pitchFamily="34" charset="0"/>
              </a:rPr>
              <a:t>Build a </a:t>
            </a:r>
            <a:r>
              <a:rPr lang="en-US" sz="2000" b="1" dirty="0" err="1">
                <a:latin typeface="Helvetica Light" panose="020B0403020202020204" pitchFamily="34" charset="0"/>
              </a:rPr>
              <a:t>jupyter</a:t>
            </a:r>
            <a:r>
              <a:rPr lang="en-US" sz="2000" b="1" dirty="0">
                <a:latin typeface="Helvetica Light" panose="020B0403020202020204" pitchFamily="34" charset="0"/>
              </a:rPr>
              <a:t> notebook </a:t>
            </a:r>
            <a:r>
              <a:rPr lang="en-US" sz="2000" dirty="0">
                <a:latin typeface="Helvetica Light" panose="020B0403020202020204" pitchFamily="34" charset="0"/>
              </a:rPr>
              <a:t>or </a:t>
            </a:r>
            <a:r>
              <a:rPr lang="en-US" sz="2000" b="1" dirty="0" err="1">
                <a:latin typeface="Helvetica Light" panose="020B0403020202020204" pitchFamily="34" charset="0"/>
              </a:rPr>
              <a:t>Rmd</a:t>
            </a:r>
            <a:r>
              <a:rPr lang="en-US" sz="2000" dirty="0">
                <a:latin typeface="Helvetica Light" panose="020B0403020202020204" pitchFamily="34" charset="0"/>
              </a:rPr>
              <a:t> tutorial or demo for a specific python module (package) that you have an interest in learning in more detail or applying in your future work (we will cover R markdown in detail later in the semester, syllabus modifications pending).</a:t>
            </a:r>
          </a:p>
          <a:p>
            <a:pPr marL="342900" indent="-342900">
              <a:buFontTx/>
              <a:buChar char="-"/>
            </a:pPr>
            <a:endParaRPr lang="en-US" sz="2000" dirty="0">
              <a:latin typeface="Helvetica Light" panose="020B0403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latin typeface="Helvetica Light" panose="020B0403020202020204" pitchFamily="34" charset="0"/>
              </a:rPr>
              <a:t>Demo a </a:t>
            </a:r>
            <a:r>
              <a:rPr lang="en-US" sz="2000" dirty="0" err="1">
                <a:latin typeface="Helvetica Light" panose="020B0403020202020204" pitchFamily="34" charset="0"/>
              </a:rPr>
              <a:t>linux</a:t>
            </a:r>
            <a:r>
              <a:rPr lang="en-US" sz="2000" dirty="0">
                <a:latin typeface="Helvetica Light" panose="020B0403020202020204" pitchFamily="34" charset="0"/>
              </a:rPr>
              <a:t> based analysis workflow for analyses central to your research focus (example, </a:t>
            </a:r>
            <a:r>
              <a:rPr lang="en-US" sz="2000" dirty="0" err="1">
                <a:latin typeface="Helvetica Light" panose="020B0403020202020204" pitchFamily="34" charset="0"/>
              </a:rPr>
              <a:t>MetaPhlAl</a:t>
            </a:r>
            <a:r>
              <a:rPr lang="en-US" sz="2000" dirty="0">
                <a:latin typeface="Helvetica Light" panose="020B0403020202020204" pitchFamily="34" charset="0"/>
              </a:rPr>
              <a:t> workflow for metagenomic data; https://</a:t>
            </a:r>
            <a:r>
              <a:rPr lang="en-US" sz="2000" dirty="0" err="1">
                <a:latin typeface="Helvetica Light" panose="020B0403020202020204" pitchFamily="34" charset="0"/>
              </a:rPr>
              <a:t>huttenhower.sph.harvard.edu</a:t>
            </a:r>
            <a:r>
              <a:rPr lang="en-US" sz="2000" dirty="0">
                <a:latin typeface="Helvetica Light" panose="020B0403020202020204" pitchFamily="34" charset="0"/>
              </a:rPr>
              <a:t>/</a:t>
            </a:r>
            <a:r>
              <a:rPr lang="en-US" sz="2000" dirty="0" err="1">
                <a:latin typeface="Helvetica Light" panose="020B0403020202020204" pitchFamily="34" charset="0"/>
              </a:rPr>
              <a:t>metaphlan</a:t>
            </a:r>
            <a:r>
              <a:rPr lang="en-US" sz="1200" dirty="0">
                <a:latin typeface="Helvetica Light" panose="020B0403020202020204" pitchFamily="34" charset="0"/>
              </a:rPr>
              <a:t>/</a:t>
            </a:r>
            <a:r>
              <a:rPr lang="en-US" sz="1600" dirty="0">
                <a:latin typeface="Helvetica Light" panose="020B0403020202020204" pitchFamily="34" charset="0"/>
              </a:rPr>
              <a:t>).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pPr marL="342900" indent="-342900">
              <a:buFontTx/>
              <a:buChar char="-"/>
            </a:pPr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Helvetica Light" panose="020B0403020202020204" pitchFamily="34" charset="0"/>
              </a:rPr>
              <a:t>II. Assignments to have turned in by now: Unix 3 </a:t>
            </a:r>
            <a:r>
              <a:rPr lang="en-US" sz="2400" b="1">
                <a:latin typeface="Helvetica Light" panose="020B0403020202020204" pitchFamily="34" charset="0"/>
              </a:rPr>
              <a:t>and 4</a:t>
            </a:r>
            <a:endParaRPr lang="en-US" sz="2000" dirty="0">
              <a:latin typeface="Helvetica Light" panose="020B0403020202020204" pitchFamily="34" charset="0"/>
            </a:endParaRPr>
          </a:p>
          <a:p>
            <a:pPr marL="342900" indent="-342900">
              <a:buFontTx/>
              <a:buChar char="-"/>
            </a:pPr>
            <a:endParaRPr lang="en-US" sz="2000" dirty="0">
              <a:latin typeface="Helvetica Light" panose="020B0403020202020204" pitchFamily="34" charset="0"/>
            </a:endParaRPr>
          </a:p>
          <a:p>
            <a:endParaRPr lang="en-US" sz="24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714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25014</TotalTime>
  <Words>1022</Words>
  <Application>Microsoft Macintosh PowerPoint</Application>
  <PresentationFormat>Widescreen</PresentationFormat>
  <Paragraphs>131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Courier</vt:lpstr>
      <vt:lpstr>Courier New</vt:lpstr>
      <vt:lpstr>Helvetica Light</vt:lpstr>
      <vt:lpstr>Helvetica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L Parchman</dc:creator>
  <cp:lastModifiedBy>Thomas L Parchman</cp:lastModifiedBy>
  <cp:revision>144</cp:revision>
  <dcterms:created xsi:type="dcterms:W3CDTF">2020-09-07T19:19:57Z</dcterms:created>
  <dcterms:modified xsi:type="dcterms:W3CDTF">2025-09-29T19:44:05Z</dcterms:modified>
</cp:coreProperties>
</file>