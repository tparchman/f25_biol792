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383" r:id="rId2"/>
    <p:sldId id="360" r:id="rId3"/>
    <p:sldId id="369" r:id="rId4"/>
    <p:sldId id="355" r:id="rId5"/>
    <p:sldId id="356" r:id="rId6"/>
    <p:sldId id="371" r:id="rId7"/>
    <p:sldId id="384" r:id="rId8"/>
    <p:sldId id="382" r:id="rId9"/>
    <p:sldId id="378" r:id="rId10"/>
    <p:sldId id="381" r:id="rId11"/>
    <p:sldId id="385" r:id="rId12"/>
    <p:sldId id="386" r:id="rId13"/>
    <p:sldId id="387" r:id="rId14"/>
    <p:sldId id="390" r:id="rId15"/>
    <p:sldId id="391" r:id="rId16"/>
    <p:sldId id="389" r:id="rId17"/>
    <p:sldId id="388" r:id="rId18"/>
    <p:sldId id="3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62"/>
    <p:restoredTop sz="91469"/>
  </p:normalViewPr>
  <p:slideViewPr>
    <p:cSldViewPr snapToGrid="0">
      <p:cViewPr varScale="1">
        <p:scale>
          <a:sx n="99" d="100"/>
          <a:sy n="99" d="100"/>
        </p:scale>
        <p:origin x="1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DBA9A8-790D-A34C-81B3-AAB3B1EC16E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A97805-0EA8-E845-8269-11BC8EA55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19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7526-5FB5-26D3-E5A1-BB9AC4E78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F3E11-BBC6-5E32-5B25-096468DA3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DA8AD-1A00-FE57-EC78-88A4E6281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5B5AA-593C-F23F-B951-E8838C731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0388B-7170-FA37-3437-6BFF34070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57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3F7FB-5AB9-32E8-7F7A-529F4AD66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1C3BF-27C0-8964-DB4B-00FA31DE3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87484-524E-3BD4-47C0-E638074B5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EFF7D-26B6-10F6-7017-4C07D6B5C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42E76-23C2-8E02-C5D0-AF6F86F7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15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8BB2D-E77A-780B-DA66-B05CA5234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12BC5-9845-1953-581B-165BCA623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4E613-0F5C-852F-B1CF-BBEAAA3F6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1FFB2-755F-010C-041C-09D557C57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1FBB8-4718-39B4-445B-83073269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061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A6F28-E33A-D7FB-046C-F85AD4C45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21D93-0B61-2AF8-421C-ADE1238D2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C99AD-5F2E-55F5-6062-F7983B942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53C02-8377-C08C-0CD0-99D37152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D20C8-7B39-746B-033C-9D3D6EC78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577C4-6250-5E29-270B-54F02A0D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76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91688-429B-CF15-6592-F742A9882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36D22-40EF-3AF3-CFE7-67559663D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5D67F-72A7-F974-9010-4DF6FD091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D338E-0F99-CF6C-B5B9-0E4C45E81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DD983F-D683-33EE-69DC-9C48EC6263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F7822-CA76-AB51-9690-043D8DB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27D22C-7CDE-4CC0-351B-AB643B12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97555-0092-8DCC-C210-AA91B1578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89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9DD5-9FDC-0168-E329-07CD42E7B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2A617-5C16-8E5B-6FDF-C8A8070EB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7C2230-6950-BBBA-FF11-6ABBAACE0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92DD21-074F-A4CB-4A42-061C2A8D2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061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185DD1-C975-7A75-FEAB-9CE6C9C5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A3B05E-D84C-C1FE-3172-2DD39C23E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B4375-19AA-9580-EB2A-483D1253F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60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3917-8F13-1FAF-9513-FEA819B69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98B6B-B0E9-1994-A183-C3F14DF79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4EE74-E422-3FC7-A69B-C9B09F610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72939-BF40-4CDB-2849-AB2B838F1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883D5-E7C1-831E-CED7-A734F3B59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EA66A-2DB2-AE8D-0672-2F1667113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279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1D07B-8FED-F984-41DC-D32EDD10E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5CE7CB-41F6-C5C7-A94C-B09AB383A6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32C48-196D-521C-44AA-C8179D22A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9F2E1-421A-5DD7-5519-670EFB05F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95E23-A0EF-2786-2982-B55AEA1B8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BAB46-E580-78E4-81CA-F8091B7E2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2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4F09-D9FF-E187-D63B-F5673800D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7ED9B-809F-8786-1979-4F038D42DE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FEAE6-FF35-5D1C-A572-66AB2228D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AB76C-8E7B-0675-E6EA-B0D819ED1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057AE-552B-C051-D022-FFF9729A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76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59E192-4F05-742C-4076-7453016D54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C6578-CEB9-32D8-1BE2-11D5727B4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518BB-C740-EA10-9BD2-6DE548DA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A542E-AEBB-EF44-9C2C-32DFB0F4562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8FCBF-7BE5-BD6B-25E1-69FECFE0D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91EE9-2520-C2CC-FFB8-EEFF92E7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88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1126A9-BFAD-6F81-D894-A4C660A5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263ED-B64A-A287-BA2C-6659B86E7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BB34C-F10F-0108-FEDC-5F5182D02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A542E-AEBB-EF44-9C2C-32DFB0F4562E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1A6E9-4054-9659-1520-A3714EAD60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9E709-C85D-1DFD-AB90-5F8AC1E52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1CF32-7426-1341-AEF5-A48D9291C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61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FC0C4D-E1A3-B455-B5BF-718604901EFC}"/>
              </a:ext>
            </a:extLst>
          </p:cNvPr>
          <p:cNvSpPr txBox="1"/>
          <p:nvPr/>
        </p:nvSpPr>
        <p:spPr>
          <a:xfrm>
            <a:off x="641131" y="546538"/>
            <a:ext cx="974746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HELVETICA LIGHT" panose="020B0403020202020204" pitchFamily="34" charset="0"/>
              </a:rPr>
              <a:t>Project Materials and Presentations:</a:t>
            </a:r>
          </a:p>
          <a:p>
            <a:endParaRPr lang="en-US" sz="3200" b="1" dirty="0">
              <a:latin typeface="HELVETICA LIGHT" panose="020B0403020202020204" pitchFamily="34" charset="0"/>
            </a:endParaRPr>
          </a:p>
          <a:p>
            <a:pPr marL="514350" indent="-514350">
              <a:buAutoNum type="arabicPeriod"/>
            </a:pPr>
            <a:r>
              <a:rPr lang="en-US" sz="3200" b="1" dirty="0">
                <a:latin typeface="HELVETICA LIGHT" panose="020B0403020202020204" pitchFamily="34" charset="0"/>
              </a:rPr>
              <a:t>Slides</a:t>
            </a:r>
          </a:p>
          <a:p>
            <a:pPr marL="514350" indent="-514350">
              <a:buAutoNum type="arabicPeriod"/>
            </a:pPr>
            <a:endParaRPr lang="en-US" sz="3200" b="1" dirty="0">
              <a:latin typeface="HELVETICA LIGHT" panose="020B0403020202020204" pitchFamily="34" charset="0"/>
            </a:endParaRPr>
          </a:p>
          <a:p>
            <a:pPr marL="514350" indent="-514350">
              <a:buAutoNum type="arabicPeriod"/>
            </a:pPr>
            <a:r>
              <a:rPr lang="en-US" sz="3200" b="1" dirty="0">
                <a:latin typeface="HELVETICA LIGHT" panose="020B0403020202020204" pitchFamily="34" charset="0"/>
              </a:rPr>
              <a:t>Code</a:t>
            </a:r>
          </a:p>
          <a:p>
            <a:pPr marL="514350" indent="-514350">
              <a:buAutoNum type="arabicPeriod"/>
            </a:pPr>
            <a:endParaRPr lang="en-US" sz="3200" b="1" dirty="0">
              <a:latin typeface="HELVETICA LIGHT" panose="020B0403020202020204" pitchFamily="34" charset="0"/>
            </a:endParaRPr>
          </a:p>
          <a:p>
            <a:pPr marL="514350" indent="-514350">
              <a:buAutoNum type="arabicPeriod"/>
            </a:pPr>
            <a:r>
              <a:rPr lang="en-US" sz="3200" b="1" dirty="0">
                <a:latin typeface="HELVETICA LIGHT" panose="020B0403020202020204" pitchFamily="34" charset="0"/>
              </a:rPr>
              <a:t>White paper covering goals, what was accomplished, what is still to be done (could all be in a </a:t>
            </a:r>
            <a:r>
              <a:rPr lang="en-US" sz="3200" b="1" dirty="0" err="1">
                <a:latin typeface="HELVETICA LIGHT" panose="020B0403020202020204" pitchFamily="34" charset="0"/>
              </a:rPr>
              <a:t>jupyter</a:t>
            </a:r>
            <a:r>
              <a:rPr lang="en-US" sz="3200" b="1" dirty="0">
                <a:latin typeface="HELVETICA LIGHT" panose="020B0403020202020204" pitchFamily="34" charset="0"/>
              </a:rPr>
              <a:t> notebook or R markdown)</a:t>
            </a:r>
          </a:p>
        </p:txBody>
      </p:sp>
    </p:spTree>
    <p:extLst>
      <p:ext uri="{BB962C8B-B14F-4D97-AF65-F5344CB8AC3E}">
        <p14:creationId xmlns:p14="http://schemas.microsoft.com/office/powerpoint/2010/main" val="4178179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2E3CA3-E358-304E-BAED-7ACD46F040DC}"/>
              </a:ext>
            </a:extLst>
          </p:cNvPr>
          <p:cNvSpPr txBox="1"/>
          <p:nvPr/>
        </p:nvSpPr>
        <p:spPr>
          <a:xfrm>
            <a:off x="5179729" y="194034"/>
            <a:ext cx="183255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Helvetica Light" panose="020B0403020202020204" pitchFamily="34" charset="0"/>
              </a:rPr>
              <a:t>Week 13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4CDD98B-E3D9-9443-AD77-CB99DD763FE2}"/>
              </a:ext>
            </a:extLst>
          </p:cNvPr>
          <p:cNvSpPr txBox="1">
            <a:spLocks/>
          </p:cNvSpPr>
          <p:nvPr/>
        </p:nvSpPr>
        <p:spPr>
          <a:xfrm>
            <a:off x="1320331" y="1263760"/>
            <a:ext cx="10251559" cy="481878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HELVETICA LIGHT" panose="020B0403020202020204" pitchFamily="34" charset="0"/>
              </a:rPr>
              <a:t>Pandas: </a:t>
            </a:r>
            <a:r>
              <a:rPr lang="en-US" dirty="0">
                <a:latin typeface="Helvetica Light" panose="020B0403020202020204" pitchFamily="34" charset="0"/>
              </a:rPr>
              <a:t>a fast, powerful, flexible and easy to use open source data analysis and manipulation tool </a:t>
            </a:r>
          </a:p>
          <a:p>
            <a:pPr marL="0" indent="0">
              <a:buNone/>
            </a:pPr>
            <a:endParaRPr lang="en-US" dirty="0">
              <a:latin typeface="Helvetica Light" panose="020B0403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HELVETICA LIGHT" panose="020B0403020202020204" pitchFamily="34" charset="0"/>
              </a:rPr>
              <a:t>Matplotlib (and seaborn and </a:t>
            </a:r>
            <a:r>
              <a:rPr lang="en-US" b="1" dirty="0" err="1">
                <a:latin typeface="HELVETICA LIGHT" panose="020B0403020202020204" pitchFamily="34" charset="0"/>
              </a:rPr>
              <a:t>plotly</a:t>
            </a:r>
            <a:r>
              <a:rPr lang="en-US" b="1" dirty="0">
                <a:latin typeface="HELVETICA LIGHT" panose="020B0403020202020204" pitchFamily="34" charset="0"/>
              </a:rPr>
              <a:t>): </a:t>
            </a:r>
            <a:r>
              <a:rPr lang="en-US" dirty="0">
                <a:latin typeface="Helvetica Light" panose="020B0403020202020204" pitchFamily="34" charset="0"/>
              </a:rPr>
              <a:t>plotting and graphics</a:t>
            </a:r>
            <a:endParaRPr lang="en-US" b="1" dirty="0">
              <a:latin typeface="HELVETICA LIGHT" panose="020B0403020202020204" pitchFamily="34" charset="0"/>
            </a:endParaRPr>
          </a:p>
          <a:p>
            <a:pPr marL="0" indent="0">
              <a:buNone/>
            </a:pPr>
            <a:endParaRPr lang="en-US" b="1" dirty="0">
              <a:latin typeface="HELVETICA LIGHT" panose="020B0403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Helvetica Light" panose="020B0403020202020204" pitchFamily="34" charset="0"/>
              </a:rPr>
              <a:t>primer/tutorial on course </a:t>
            </a:r>
            <a:r>
              <a:rPr lang="en-US" dirty="0" err="1">
                <a:latin typeface="Helvetica Light" panose="020B0403020202020204" pitchFamily="34" charset="0"/>
              </a:rPr>
              <a:t>Github</a:t>
            </a:r>
            <a:r>
              <a:rPr lang="en-US" dirty="0">
                <a:latin typeface="Helvetica Light" panose="020B0403020202020204" pitchFamily="34" charset="0"/>
              </a:rPr>
              <a:t> page for week 13</a:t>
            </a:r>
          </a:p>
          <a:p>
            <a:pPr marL="0" indent="0">
              <a:buNone/>
            </a:pPr>
            <a:endParaRPr lang="en-US" dirty="0">
              <a:latin typeface="Helvetica Light" panose="020B0403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Helvetica Light" panose="020B0403020202020204" pitchFamily="34" charset="0"/>
              </a:rPr>
              <a:t>No required assignment (but see assignment_6_python.ipynb)</a:t>
            </a:r>
          </a:p>
          <a:p>
            <a:pPr marL="0" indent="0">
              <a:buNone/>
            </a:pPr>
            <a:endParaRPr lang="en-US" dirty="0">
              <a:latin typeface="Helvetica Light" panose="020B0403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HELVETICA LIGHT" panose="020B0403020202020204" pitchFamily="34" charset="0"/>
              </a:rPr>
              <a:t>Week before and after Thanksgiving: </a:t>
            </a:r>
            <a:r>
              <a:rPr lang="en-US" dirty="0">
                <a:latin typeface="Helvetica Light" panose="020B0403020202020204" pitchFamily="34" charset="0"/>
              </a:rPr>
              <a:t>as much time as you need on independent project</a:t>
            </a:r>
          </a:p>
          <a:p>
            <a:pPr marL="0" indent="0">
              <a:buNone/>
            </a:pPr>
            <a:endParaRPr lang="en-US" dirty="0">
              <a:latin typeface="Helvetica Light" panose="020B0403020202020204" pitchFamily="34" charset="0"/>
            </a:endParaRPr>
          </a:p>
          <a:p>
            <a:pPr marL="457200" lvl="1" indent="0">
              <a:buNone/>
            </a:pPr>
            <a:endParaRPr lang="en-US" sz="28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418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96E760-3497-DE43-BAEE-065CA0C643EC}"/>
              </a:ext>
            </a:extLst>
          </p:cNvPr>
          <p:cNvSpPr txBox="1"/>
          <p:nvPr/>
        </p:nvSpPr>
        <p:spPr>
          <a:xfrm>
            <a:off x="1304274" y="1964353"/>
            <a:ext cx="1097767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- Supports 2-d data cleaning, merging, and joining.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- Easy handling of missing data (represented as </a:t>
            </a:r>
            <a:r>
              <a:rPr lang="en-US" sz="2600" dirty="0" err="1">
                <a:latin typeface="Helvetica Light" panose="020B0403020202020204" pitchFamily="34" charset="0"/>
              </a:rPr>
              <a:t>NaN</a:t>
            </a:r>
            <a:r>
              <a:rPr lang="en-US" sz="2600" dirty="0">
                <a:latin typeface="Helvetica Light" panose="020B0403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- Powerful group by functionality for performing split-apply-combine operations on data sets (similar to R)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- </a:t>
            </a:r>
            <a:r>
              <a:rPr lang="en-US" sz="2600" b="1" dirty="0">
                <a:latin typeface="Helvetica Light" panose="020B0403020202020204" pitchFamily="34" charset="0"/>
              </a:rPr>
              <a:t>pandas</a:t>
            </a:r>
            <a:r>
              <a:rPr lang="en-US" sz="2600" dirty="0">
                <a:latin typeface="Helvetica Light" panose="020B0403020202020204" pitchFamily="34" charset="0"/>
              </a:rPr>
              <a:t> requires </a:t>
            </a:r>
            <a:r>
              <a:rPr lang="en-US" sz="2600" b="1" dirty="0" err="1">
                <a:latin typeface="Helvetica Light" panose="020B0403020202020204" pitchFamily="34" charset="0"/>
              </a:rPr>
              <a:t>numpy</a:t>
            </a:r>
            <a:r>
              <a:rPr lang="en-US" sz="2600" dirty="0">
                <a:latin typeface="Helvetica Light" panose="020B0403020202020204" pitchFamily="34" charset="0"/>
              </a:rPr>
              <a:t> for many operations. Both are core components of SciPy 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600" dirty="0">
              <a:latin typeface="Helvetica Light" panose="020B0403020202020204" pitchFamily="34" charset="0"/>
            </a:endParaRPr>
          </a:p>
          <a:p>
            <a:endParaRPr lang="en-US" sz="2600" dirty="0">
              <a:latin typeface="Helvetica Light" panose="020B04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1D4468-5FB4-681E-3B86-24449EAF3695}"/>
              </a:ext>
            </a:extLst>
          </p:cNvPr>
          <p:cNvSpPr txBox="1"/>
          <p:nvPr/>
        </p:nvSpPr>
        <p:spPr>
          <a:xfrm>
            <a:off x="1843217" y="425261"/>
            <a:ext cx="809228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Helvetica Light" panose="020B0403020202020204" pitchFamily="34" charset="0"/>
              </a:rPr>
              <a:t>Data Science libraries for python: </a:t>
            </a:r>
            <a:r>
              <a:rPr lang="en-US" sz="3300" b="1" dirty="0">
                <a:latin typeface="Helvetica Light" panose="020B0403020202020204" pitchFamily="34" charset="0"/>
              </a:rPr>
              <a:t>pandas</a:t>
            </a:r>
          </a:p>
        </p:txBody>
      </p:sp>
    </p:spTree>
    <p:extLst>
      <p:ext uri="{BB962C8B-B14F-4D97-AF65-F5344CB8AC3E}">
        <p14:creationId xmlns:p14="http://schemas.microsoft.com/office/powerpoint/2010/main" val="3716432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FB1387-BAB4-7E4E-A14B-CEBCED0B9A03}"/>
              </a:ext>
            </a:extLst>
          </p:cNvPr>
          <p:cNvSpPr txBox="1"/>
          <p:nvPr/>
        </p:nvSpPr>
        <p:spPr>
          <a:xfrm>
            <a:off x="1840675" y="362199"/>
            <a:ext cx="851066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Helvetica Light" panose="020B0403020202020204" pitchFamily="34" charset="0"/>
              </a:rPr>
              <a:t>Installing python </a:t>
            </a:r>
            <a:r>
              <a:rPr lang="en-US" sz="3300" b="1" dirty="0" err="1">
                <a:latin typeface="Helvetica Light" panose="020B0403020202020204" pitchFamily="34" charset="0"/>
              </a:rPr>
              <a:t>numpy</a:t>
            </a:r>
            <a:r>
              <a:rPr lang="en-US" sz="3300" dirty="0">
                <a:latin typeface="Helvetica Light" panose="020B0403020202020204" pitchFamily="34" charset="0"/>
              </a:rPr>
              <a:t> and </a:t>
            </a:r>
            <a:r>
              <a:rPr lang="en-US" sz="3300" b="1" dirty="0">
                <a:latin typeface="Helvetica Light" panose="020B0403020202020204" pitchFamily="34" charset="0"/>
              </a:rPr>
              <a:t>panda</a:t>
            </a:r>
            <a:r>
              <a:rPr lang="en-US" sz="3300" dirty="0">
                <a:latin typeface="Helvetica Light" panose="020B0403020202020204" pitchFamily="34" charset="0"/>
              </a:rPr>
              <a:t> libraries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6E760-3497-DE43-BAEE-065CA0C643EC}"/>
              </a:ext>
            </a:extLst>
          </p:cNvPr>
          <p:cNvSpPr txBox="1"/>
          <p:nvPr/>
        </p:nvSpPr>
        <p:spPr>
          <a:xfrm>
            <a:off x="1100178" y="1290207"/>
            <a:ext cx="40847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Helvetica Light" panose="020B0403020202020204" pitchFamily="34" charset="0"/>
              </a:rPr>
              <a:t>From the command line: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7545EA-2FFD-0044-89D7-3BB84BAC2D24}"/>
              </a:ext>
            </a:extLst>
          </p:cNvPr>
          <p:cNvSpPr txBox="1"/>
          <p:nvPr/>
        </p:nvSpPr>
        <p:spPr>
          <a:xfrm>
            <a:off x="2034905" y="1982916"/>
            <a:ext cx="6041206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pip3 install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package_name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pip3 install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pip3 install pandas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pip3 install matplotlib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pip3 install seaborn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pip3 install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plotly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2FCA8A-3811-634F-9D4A-8F80B0E37C5A}"/>
              </a:ext>
            </a:extLst>
          </p:cNvPr>
          <p:cNvSpPr txBox="1"/>
          <p:nvPr/>
        </p:nvSpPr>
        <p:spPr>
          <a:xfrm>
            <a:off x="916110" y="5449361"/>
            <a:ext cx="49808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Helvetica Light" panose="020B0403020202020204" pitchFamily="34" charset="0"/>
              </a:rPr>
              <a:t>If you get a permissions error: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2C7020-F76F-FD45-A861-31F977C86019}"/>
              </a:ext>
            </a:extLst>
          </p:cNvPr>
          <p:cNvSpPr txBox="1"/>
          <p:nvPr/>
        </p:nvSpPr>
        <p:spPr>
          <a:xfrm>
            <a:off x="2034905" y="5972581"/>
            <a:ext cx="7487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pip3 install --user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package_name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42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FB1387-BAB4-7E4E-A14B-CEBCED0B9A03}"/>
              </a:ext>
            </a:extLst>
          </p:cNvPr>
          <p:cNvSpPr txBox="1"/>
          <p:nvPr/>
        </p:nvSpPr>
        <p:spPr>
          <a:xfrm>
            <a:off x="4286855" y="362199"/>
            <a:ext cx="361829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Helvetica Light" panose="020B0403020202020204" pitchFamily="34" charset="0"/>
              </a:rPr>
              <a:t>Importing libraries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6E760-3497-DE43-BAEE-065CA0C643EC}"/>
              </a:ext>
            </a:extLst>
          </p:cNvPr>
          <p:cNvSpPr txBox="1"/>
          <p:nvPr/>
        </p:nvSpPr>
        <p:spPr>
          <a:xfrm>
            <a:off x="298692" y="1363616"/>
            <a:ext cx="3781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Helvetica Light" panose="020B0403020202020204" pitchFamily="34" charset="0"/>
              </a:rPr>
              <a:t>Top of script in python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7545EA-2FFD-0044-89D7-3BB84BAC2D24}"/>
              </a:ext>
            </a:extLst>
          </p:cNvPr>
          <p:cNvSpPr txBox="1"/>
          <p:nvPr/>
        </p:nvSpPr>
        <p:spPr>
          <a:xfrm>
            <a:off x="684919" y="2083487"/>
            <a:ext cx="1082860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os,re,sys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400" dirty="0">
                <a:latin typeface="Helvetica Light" panose="020B0403020202020204" pitchFamily="34" charset="0"/>
              </a:rPr>
              <a:t>(import multiple libraries in single line) 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as np              </a:t>
            </a:r>
            <a:r>
              <a:rPr lang="en-US" sz="2400" dirty="0">
                <a:latin typeface="Helvetica Light" panose="020B0403020202020204" pitchFamily="34" charset="0"/>
              </a:rPr>
              <a:t>(import package as alias) 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Helvetica Light" panose="020B0403020202020204" pitchFamily="34" charset="0"/>
              </a:rPr>
              <a:t>(import only specific function)</a:t>
            </a:r>
            <a:endParaRPr lang="en-US" sz="2400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2FCA8A-3811-634F-9D4A-8F80B0E37C5A}"/>
              </a:ext>
            </a:extLst>
          </p:cNvPr>
          <p:cNvSpPr txBox="1"/>
          <p:nvPr/>
        </p:nvSpPr>
        <p:spPr>
          <a:xfrm>
            <a:off x="298692" y="4327996"/>
            <a:ext cx="4003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Helvetica Light" panose="020B0403020202020204" pitchFamily="34" charset="0"/>
              </a:rPr>
              <a:t>Aliases commonly used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C06E0D-1BFF-4647-816B-3556FDF556F9}"/>
              </a:ext>
            </a:extLst>
          </p:cNvPr>
          <p:cNvSpPr/>
          <p:nvPr/>
        </p:nvSpPr>
        <p:spPr>
          <a:xfrm>
            <a:off x="1494216" y="4863594"/>
            <a:ext cx="719958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as np 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 </a:t>
            </a:r>
          </a:p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788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FB1387-BAB4-7E4E-A14B-CEBCED0B9A03}"/>
              </a:ext>
            </a:extLst>
          </p:cNvPr>
          <p:cNvSpPr txBox="1"/>
          <p:nvPr/>
        </p:nvSpPr>
        <p:spPr>
          <a:xfrm>
            <a:off x="4180254" y="362199"/>
            <a:ext cx="383149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dirty="0">
                <a:latin typeface="Helvetica Light" panose="020B0403020202020204" pitchFamily="34" charset="0"/>
              </a:rPr>
              <a:t>Pandas </a:t>
            </a:r>
            <a:r>
              <a:rPr lang="en-US" sz="3300" dirty="0" err="1">
                <a:latin typeface="Helvetica Light" panose="020B0403020202020204" pitchFamily="34" charset="0"/>
              </a:rPr>
              <a:t>DataFrame</a:t>
            </a:r>
            <a:endParaRPr lang="en-US" sz="3300" dirty="0">
              <a:latin typeface="Helvetica Light" panose="020B04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6E760-3497-DE43-BAEE-065CA0C643EC}"/>
              </a:ext>
            </a:extLst>
          </p:cNvPr>
          <p:cNvSpPr txBox="1"/>
          <p:nvPr/>
        </p:nvSpPr>
        <p:spPr>
          <a:xfrm>
            <a:off x="938972" y="1864663"/>
            <a:ext cx="1031405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US" sz="2800" dirty="0">
                <a:latin typeface="Helvetica Light" panose="020B0403020202020204" pitchFamily="34" charset="0"/>
              </a:rPr>
              <a:t>- Two-dimensional data structure - tabular fashion in rows and columns. </a:t>
            </a:r>
          </a:p>
          <a:p>
            <a:pPr rtl="0"/>
            <a:endParaRPr lang="en-US" sz="2800" dirty="0">
              <a:latin typeface="Helvetica Light" panose="020B0403020202020204" pitchFamily="34" charset="0"/>
            </a:endParaRPr>
          </a:p>
          <a:p>
            <a:pPr rtl="0"/>
            <a:r>
              <a:rPr lang="en-US" sz="2800" dirty="0">
                <a:latin typeface="Helvetica Light" panose="020B0403020202020204" pitchFamily="34" charset="0"/>
              </a:rPr>
              <a:t>- Components: the data, rows, and columns</a:t>
            </a:r>
          </a:p>
          <a:p>
            <a:pPr rtl="0"/>
            <a:endParaRPr lang="en-US" sz="2800" dirty="0">
              <a:latin typeface="Helvetica Light" panose="020B0403020202020204" pitchFamily="34" charset="0"/>
            </a:endParaRPr>
          </a:p>
          <a:p>
            <a:pPr rtl="0"/>
            <a:r>
              <a:rPr lang="en-US" sz="2800" dirty="0">
                <a:latin typeface="Helvetica Light" panose="020B0403020202020204" pitchFamily="34" charset="0"/>
              </a:rPr>
              <a:t>- easily manipulated, sorted, merged, etc.</a:t>
            </a:r>
          </a:p>
          <a:p>
            <a:pPr rtl="0"/>
            <a:endParaRPr lang="en-US" sz="2800" dirty="0">
              <a:latin typeface="Helvetica Light" panose="020B0403020202020204" pitchFamily="34" charset="0"/>
            </a:endParaRPr>
          </a:p>
          <a:p>
            <a:pPr rtl="0"/>
            <a:r>
              <a:rPr lang="en-US" sz="2800" dirty="0">
                <a:latin typeface="Helvetica Light" panose="020B0403020202020204" pitchFamily="34" charset="0"/>
              </a:rPr>
              <a:t>- feels similar to </a:t>
            </a:r>
            <a:r>
              <a:rPr lang="en-US" sz="2800" dirty="0" err="1">
                <a:latin typeface="Helvetica Light" panose="020B0403020202020204" pitchFamily="34" charset="0"/>
              </a:rPr>
              <a:t>dataframe</a:t>
            </a:r>
            <a:r>
              <a:rPr lang="en-US" sz="2800" dirty="0">
                <a:latin typeface="Helvetica Light" panose="020B0403020202020204" pitchFamily="34" charset="0"/>
              </a:rPr>
              <a:t> operations in R, but fast for big data</a:t>
            </a:r>
          </a:p>
        </p:txBody>
      </p:sp>
    </p:spTree>
    <p:extLst>
      <p:ext uri="{BB962C8B-B14F-4D97-AF65-F5344CB8AC3E}">
        <p14:creationId xmlns:p14="http://schemas.microsoft.com/office/powerpoint/2010/main" val="2802060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3DB5BD-E311-DCE4-9B75-A58491BEDBC4}"/>
              </a:ext>
            </a:extLst>
          </p:cNvPr>
          <p:cNvSpPr txBox="1"/>
          <p:nvPr/>
        </p:nvSpPr>
        <p:spPr>
          <a:xfrm>
            <a:off x="2636131" y="651266"/>
            <a:ext cx="73052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Helvetica Light" panose="020B0403020202020204" pitchFamily="34" charset="0"/>
              </a:rPr>
              <a:t>Basic or common pandas operations: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FB01C0-DD2C-0CDE-2356-EAEDF5878FCC}"/>
              </a:ext>
            </a:extLst>
          </p:cNvPr>
          <p:cNvSpPr txBox="1"/>
          <p:nvPr/>
        </p:nvSpPr>
        <p:spPr>
          <a:xfrm>
            <a:off x="1019503" y="2175641"/>
            <a:ext cx="10538462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- Reading file to </a:t>
            </a:r>
            <a:r>
              <a:rPr lang="en-US" sz="2600" dirty="0" err="1">
                <a:latin typeface="Helvetica Light" panose="020B0403020202020204" pitchFamily="34" charset="0"/>
              </a:rPr>
              <a:t>dataframe</a:t>
            </a:r>
            <a:r>
              <a:rPr lang="en-US" sz="2600" dirty="0">
                <a:latin typeface="Helvetica Light" panose="020B0403020202020204" pitchFamily="34" charset="0"/>
              </a:rPr>
              <a:t>, writing </a:t>
            </a:r>
            <a:r>
              <a:rPr lang="en-US" sz="2600" dirty="0" err="1">
                <a:latin typeface="Helvetica Light" panose="020B0403020202020204" pitchFamily="34" charset="0"/>
              </a:rPr>
              <a:t>dataframe</a:t>
            </a:r>
            <a:r>
              <a:rPr lang="en-US" sz="2600" dirty="0">
                <a:latin typeface="Helvetica Light" panose="020B0403020202020204" pitchFamily="34" charset="0"/>
              </a:rPr>
              <a:t> to file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- column operations: sub-setting, mathematical operations, extracting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- sorting </a:t>
            </a:r>
            <a:r>
              <a:rPr lang="en-US" sz="2600" dirty="0" err="1">
                <a:latin typeface="Helvetica Light" panose="020B0403020202020204" pitchFamily="34" charset="0"/>
              </a:rPr>
              <a:t>dataframes</a:t>
            </a:r>
            <a:endParaRPr lang="en-US" sz="2600" dirty="0">
              <a:latin typeface="Helvetica Light" panose="020B0403020202020204" pitchFamily="34" charset="0"/>
            </a:endParaRP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- grouping, aggregating, summary statistics, etc.  </a:t>
            </a:r>
          </a:p>
        </p:txBody>
      </p:sp>
    </p:spTree>
    <p:extLst>
      <p:ext uri="{BB962C8B-B14F-4D97-AF65-F5344CB8AC3E}">
        <p14:creationId xmlns:p14="http://schemas.microsoft.com/office/powerpoint/2010/main" val="83471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53AAC3-FA22-064B-D2F5-9F1E179E7A23}"/>
              </a:ext>
            </a:extLst>
          </p:cNvPr>
          <p:cNvSpPr txBox="1"/>
          <p:nvPr/>
        </p:nvSpPr>
        <p:spPr>
          <a:xfrm>
            <a:off x="3048000" y="4637901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saving the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df.to_csv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file1.csv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46210D-AD41-65AA-0C69-7D83077885D2}"/>
              </a:ext>
            </a:extLst>
          </p:cNvPr>
          <p:cNvSpPr txBox="1"/>
          <p:nvPr/>
        </p:nvSpPr>
        <p:spPr>
          <a:xfrm>
            <a:off x="3048000" y="1534585"/>
            <a:ext cx="609600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0000C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pandas as pd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A52A2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400" b="1" dirty="0" err="1">
                <a:solidFill>
                  <a:srgbClr val="A52A2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data.csv</a:t>
            </a:r>
            <a:r>
              <a:rPr lang="en-US" sz="2400" b="1" dirty="0">
                <a:solidFill>
                  <a:srgbClr val="A52A2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err="1">
                <a:solidFill>
                  <a:srgbClr val="0000C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df.head</a:t>
            </a:r>
            <a:r>
              <a:rPr lang="en-US" sz="2400" b="1" dirty="0">
                <a:solidFill>
                  <a:srgbClr val="0000C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# previews top 5 rows of </a:t>
            </a:r>
            <a:r>
              <a:rPr lang="en-US" sz="2400" b="1">
                <a:solidFill>
                  <a:srgbClr val="0000C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F3AE8-0B24-C7F7-C273-8F9E3B40E5B4}"/>
              </a:ext>
            </a:extLst>
          </p:cNvPr>
          <p:cNvSpPr txBox="1"/>
          <p:nvPr/>
        </p:nvSpPr>
        <p:spPr>
          <a:xfrm>
            <a:off x="1317346" y="764453"/>
            <a:ext cx="103140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US" sz="3000" dirty="0">
                <a:latin typeface="Helvetica Light" panose="020B0403020202020204" pitchFamily="34" charset="0"/>
              </a:rPr>
              <a:t>Reading file as </a:t>
            </a:r>
            <a:r>
              <a:rPr lang="en-US" sz="3000" dirty="0" err="1">
                <a:latin typeface="Helvetica Light" panose="020B0403020202020204" pitchFamily="34" charset="0"/>
              </a:rPr>
              <a:t>dataframe</a:t>
            </a:r>
            <a:r>
              <a:rPr lang="en-US" sz="3000" dirty="0">
                <a:latin typeface="Helvetica Light" panose="020B0403020202020204" pitchFamily="34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D0EA6A-5DC9-13D9-D3FA-F4DAE0763CF4}"/>
              </a:ext>
            </a:extLst>
          </p:cNvPr>
          <p:cNvSpPr txBox="1"/>
          <p:nvPr/>
        </p:nvSpPr>
        <p:spPr>
          <a:xfrm>
            <a:off x="1317346" y="4017267"/>
            <a:ext cx="103140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US" sz="3000" dirty="0">
                <a:latin typeface="Helvetica Light" panose="020B0403020202020204" pitchFamily="34" charset="0"/>
              </a:rPr>
              <a:t>Writing </a:t>
            </a:r>
            <a:r>
              <a:rPr lang="en-US" sz="3000" dirty="0" err="1">
                <a:latin typeface="Helvetica Light" panose="020B0403020202020204" pitchFamily="34" charset="0"/>
              </a:rPr>
              <a:t>dataframe</a:t>
            </a:r>
            <a:r>
              <a:rPr lang="en-US" sz="3000" dirty="0">
                <a:latin typeface="Helvetica Light" panose="020B0403020202020204" pitchFamily="34" charset="0"/>
              </a:rPr>
              <a:t> to file:</a:t>
            </a:r>
          </a:p>
        </p:txBody>
      </p:sp>
    </p:spTree>
    <p:extLst>
      <p:ext uri="{BB962C8B-B14F-4D97-AF65-F5344CB8AC3E}">
        <p14:creationId xmlns:p14="http://schemas.microsoft.com/office/powerpoint/2010/main" val="355657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C72675F-5D8B-C117-23BE-E872066F9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124" y="529946"/>
            <a:ext cx="9545676" cy="2853690"/>
          </a:xfrm>
          <a:prstGeom prst="rect">
            <a:avLst/>
          </a:prstGeom>
        </p:spPr>
      </p:pic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08864B46-973D-E70E-DF01-28F17C9AD0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342"/>
          <a:stretch/>
        </p:blipFill>
        <p:spPr>
          <a:xfrm>
            <a:off x="1457322" y="3607826"/>
            <a:ext cx="9515478" cy="168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098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8B2FE1A8-6A85-2F49-726E-43F9452EB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908050"/>
            <a:ext cx="10111044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2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66D127-6D45-1AC5-8432-0C31ECA57182}"/>
              </a:ext>
            </a:extLst>
          </p:cNvPr>
          <p:cNvSpPr txBox="1"/>
          <p:nvPr/>
        </p:nvSpPr>
        <p:spPr>
          <a:xfrm>
            <a:off x="827314" y="477521"/>
            <a:ext cx="1083128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3200" b="1" dirty="0">
                <a:latin typeface="HELVETICA LIGHT" panose="020B0403020202020204" pitchFamily="34" charset="0"/>
              </a:rPr>
              <a:t>.info() </a:t>
            </a:r>
            <a:r>
              <a:rPr lang="en-US" sz="3200" dirty="0">
                <a:latin typeface="Helvetica Light" panose="020B0403020202020204" pitchFamily="34" charset="0"/>
              </a:rPr>
              <a:t>function displays the information on each variable (column).</a:t>
            </a:r>
          </a:p>
          <a:p>
            <a:pPr rtl="0"/>
            <a:endParaRPr lang="en-US" sz="2800" dirty="0">
              <a:latin typeface="Helvetica Light" panose="020B0403020202020204" pitchFamily="34" charset="0"/>
            </a:endParaRPr>
          </a:p>
          <a:p>
            <a:pPr rtl="0"/>
            <a:r>
              <a:rPr lang="en-US" sz="2800" dirty="0">
                <a:latin typeface="Helvetica Light" panose="020B0403020202020204" pitchFamily="34" charset="0"/>
              </a:rPr>
              <a:t>A useful quality control step to see how variables are being treated on default after creating a </a:t>
            </a:r>
            <a:r>
              <a:rPr lang="en-US" sz="2800" dirty="0" err="1">
                <a:latin typeface="Helvetica Light" panose="020B0403020202020204" pitchFamily="34" charset="0"/>
              </a:rPr>
              <a:t>dataframe</a:t>
            </a:r>
            <a:r>
              <a:rPr lang="en-US" sz="2800" dirty="0">
                <a:latin typeface="Helvetica Light" panose="020B0403020202020204" pitchFamily="34" charset="0"/>
              </a:rPr>
              <a:t>.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91CCAAE8-0330-8113-C5EA-363542E2F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114" y="3076002"/>
            <a:ext cx="7772400" cy="342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174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247867-B55A-66E1-3F32-4CC7C0498AF1}"/>
              </a:ext>
            </a:extLst>
          </p:cNvPr>
          <p:cNvSpPr txBox="1"/>
          <p:nvPr/>
        </p:nvSpPr>
        <p:spPr>
          <a:xfrm>
            <a:off x="971550" y="274935"/>
            <a:ext cx="1066165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pandas</a:t>
            </a:r>
            <a:r>
              <a:rPr lang="en-US" sz="2600" dirty="0">
                <a:latin typeface="Helvetica Light" panose="020B0403020202020204" pitchFamily="34" charset="0"/>
              </a:rPr>
              <a:t> allows manipulation or conversion of dates to more consistent formats. Below is one example of how to convert dates to different formats, and to see how dates are treated </a:t>
            </a:r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B3285364-F47E-1D72-BA40-C0E3F2E30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1545307"/>
            <a:ext cx="9347200" cy="40042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69819B-CDC1-B577-89D1-8D759312B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5880100"/>
            <a:ext cx="8188251" cy="7029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CD9909-2089-DAEC-342F-D7734768F76C}"/>
              </a:ext>
            </a:extLst>
          </p:cNvPr>
          <p:cNvSpPr txBox="1"/>
          <p:nvPr/>
        </p:nvSpPr>
        <p:spPr>
          <a:xfrm>
            <a:off x="9779000" y="5164943"/>
            <a:ext cx="1943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Converting month/day to day of year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43BCF84-D34E-E76A-95B6-744407FC9960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9283700" y="5626608"/>
            <a:ext cx="495300" cy="253492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24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75D56E-CF12-9029-61AE-79BD321451D7}"/>
              </a:ext>
            </a:extLst>
          </p:cNvPr>
          <p:cNvSpPr txBox="1"/>
          <p:nvPr/>
        </p:nvSpPr>
        <p:spPr>
          <a:xfrm>
            <a:off x="1803400" y="567649"/>
            <a:ext cx="858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Helvetica Light" panose="020B0403020202020204" pitchFamily="34" charset="0"/>
              </a:rPr>
              <a:t>Summarizing data frames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88FDFC-5B09-CF68-0CD5-88E3658D3B54}"/>
              </a:ext>
            </a:extLst>
          </p:cNvPr>
          <p:cNvSpPr txBox="1"/>
          <p:nvPr/>
        </p:nvSpPr>
        <p:spPr>
          <a:xfrm>
            <a:off x="1150257" y="1634450"/>
            <a:ext cx="985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sort_values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(), .unique(), .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groupby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(), .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agg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75BD695-E75F-EBA8-90CF-9072CFA94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400" y="2656091"/>
            <a:ext cx="7772400" cy="256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026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4AF4F-1D26-DB98-EC85-B059FBABD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0B3906-3A02-EB2E-7798-E076779F1C4B}"/>
              </a:ext>
            </a:extLst>
          </p:cNvPr>
          <p:cNvSpPr txBox="1"/>
          <p:nvPr/>
        </p:nvSpPr>
        <p:spPr>
          <a:xfrm>
            <a:off x="1803400" y="567649"/>
            <a:ext cx="858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Helvetica Light" panose="020B0403020202020204" pitchFamily="34" charset="0"/>
              </a:rPr>
              <a:t>Summarizing data frames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4AE50-88A2-E5FD-876E-C213422D8711}"/>
              </a:ext>
            </a:extLst>
          </p:cNvPr>
          <p:cNvSpPr txBox="1"/>
          <p:nvPr/>
        </p:nvSpPr>
        <p:spPr>
          <a:xfrm>
            <a:off x="1150257" y="1634450"/>
            <a:ext cx="985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sort_values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(), .unique(), .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groupby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(), .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agg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C402C700-F8A6-BE42-CEB8-2CD852B53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771" y="3032579"/>
            <a:ext cx="7416800" cy="105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904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96A67-E06E-4509-37A6-7C1755A99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9562AE-52E9-DBFD-5AE5-E528046C25AB}"/>
              </a:ext>
            </a:extLst>
          </p:cNvPr>
          <p:cNvSpPr txBox="1"/>
          <p:nvPr/>
        </p:nvSpPr>
        <p:spPr>
          <a:xfrm>
            <a:off x="1803400" y="567649"/>
            <a:ext cx="858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Helvetica Light" panose="020B0403020202020204" pitchFamily="34" charset="0"/>
              </a:rPr>
              <a:t>Summarizing data frames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45C0DB-E4DD-CD21-2D0A-36F8D797444C}"/>
              </a:ext>
            </a:extLst>
          </p:cNvPr>
          <p:cNvSpPr txBox="1"/>
          <p:nvPr/>
        </p:nvSpPr>
        <p:spPr>
          <a:xfrm>
            <a:off x="1150257" y="1634450"/>
            <a:ext cx="985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sort_values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(), .unique(), .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groupby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(), .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agg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EFEE55A-BD2A-2906-9CB7-16BA7C058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50" y="2639696"/>
            <a:ext cx="10502899" cy="324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26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1DC2E6-D8E7-4952-3B64-CD97DB7EA56C}"/>
              </a:ext>
            </a:extLst>
          </p:cNvPr>
          <p:cNvSpPr txBox="1"/>
          <p:nvPr/>
        </p:nvSpPr>
        <p:spPr>
          <a:xfrm>
            <a:off x="4278085" y="576943"/>
            <a:ext cx="31954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+mj-lt"/>
              </a:rPr>
              <a:t>Data visualization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D1ACE-0C31-3934-E8BC-DB9FCE67A867}"/>
              </a:ext>
            </a:extLst>
          </p:cNvPr>
          <p:cNvSpPr txBox="1"/>
          <p:nvPr/>
        </p:nvSpPr>
        <p:spPr>
          <a:xfrm>
            <a:off x="1295400" y="1937658"/>
            <a:ext cx="1031965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121212"/>
                </a:solidFill>
                <a:effectLst/>
                <a:latin typeface="+mj-lt"/>
              </a:rPr>
              <a:t>- primer_python8_pandas_matplotlibdemo.ipynb covers some examples of data visualization, using </a:t>
            </a:r>
            <a:r>
              <a:rPr lang="en-US" sz="2800" dirty="0" err="1">
                <a:solidFill>
                  <a:srgbClr val="121212"/>
                </a:solidFill>
                <a:latin typeface="+mj-lt"/>
              </a:rPr>
              <a:t>states_covid.csv</a:t>
            </a:r>
            <a:endParaRPr lang="en-US" sz="2800" dirty="0">
              <a:solidFill>
                <a:srgbClr val="121212"/>
              </a:solidFill>
              <a:latin typeface="+mj-lt"/>
            </a:endParaRPr>
          </a:p>
          <a:p>
            <a:endParaRPr lang="en-US" sz="2800" dirty="0">
              <a:solidFill>
                <a:srgbClr val="121212"/>
              </a:solidFill>
              <a:effectLst/>
              <a:latin typeface="+mj-lt"/>
            </a:endParaRPr>
          </a:p>
          <a:p>
            <a:r>
              <a:rPr lang="en-US" sz="2800" dirty="0">
                <a:solidFill>
                  <a:srgbClr val="121212"/>
                </a:solidFill>
                <a:latin typeface="+mj-lt"/>
              </a:rPr>
              <a:t>- Three libraries to give a try:</a:t>
            </a:r>
          </a:p>
          <a:p>
            <a:r>
              <a:rPr lang="en-US" sz="2800" b="1" dirty="0">
                <a:solidFill>
                  <a:srgbClr val="121212"/>
                </a:solidFill>
                <a:latin typeface="+mj-lt"/>
              </a:rPr>
              <a:t>matplotlib</a:t>
            </a:r>
          </a:p>
          <a:p>
            <a:r>
              <a:rPr lang="en-US" sz="2800" b="1" dirty="0">
                <a:solidFill>
                  <a:srgbClr val="121212"/>
                </a:solidFill>
                <a:latin typeface="+mj-lt"/>
              </a:rPr>
              <a:t>seaborn</a:t>
            </a:r>
          </a:p>
          <a:p>
            <a:r>
              <a:rPr lang="en-US" sz="2800" b="1" dirty="0" err="1">
                <a:solidFill>
                  <a:srgbClr val="121212"/>
                </a:solidFill>
                <a:latin typeface="+mj-lt"/>
              </a:rPr>
              <a:t>plotly.express</a:t>
            </a:r>
            <a:endParaRPr lang="en-US" sz="2800" b="1" dirty="0">
              <a:solidFill>
                <a:srgbClr val="121212"/>
              </a:solidFill>
              <a:latin typeface="+mj-lt"/>
            </a:endParaRPr>
          </a:p>
          <a:p>
            <a:endParaRPr lang="en-US" sz="2800" dirty="0">
              <a:solidFill>
                <a:srgbClr val="121212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2161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number of test results&#10;&#10;Description automatically generated with medium confidence">
            <a:extLst>
              <a:ext uri="{FF2B5EF4-FFF2-40B4-BE49-F238E27FC236}">
                <a16:creationId xmlns:a16="http://schemas.microsoft.com/office/drawing/2014/main" id="{A28793C4-CDFD-5F74-D103-40092F697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1417700"/>
            <a:ext cx="12012238" cy="402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115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2E3CA3-E358-304E-BAED-7ACD46F040DC}"/>
              </a:ext>
            </a:extLst>
          </p:cNvPr>
          <p:cNvSpPr txBox="1"/>
          <p:nvPr/>
        </p:nvSpPr>
        <p:spPr>
          <a:xfrm>
            <a:off x="5029851" y="194034"/>
            <a:ext cx="213231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b="1" dirty="0">
                <a:latin typeface="Helvetica Light" panose="020B0403020202020204" pitchFamily="34" charset="0"/>
              </a:rPr>
              <a:t>This week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4CDD98B-E3D9-9443-AD77-CB99DD763FE2}"/>
              </a:ext>
            </a:extLst>
          </p:cNvPr>
          <p:cNvSpPr txBox="1">
            <a:spLocks/>
          </p:cNvSpPr>
          <p:nvPr/>
        </p:nvSpPr>
        <p:spPr>
          <a:xfrm>
            <a:off x="1382293" y="1781456"/>
            <a:ext cx="10515417" cy="22447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dirty="0">
                <a:solidFill>
                  <a:srgbClr val="121212"/>
                </a:solidFill>
                <a:effectLst/>
                <a:latin typeface="Helvetica Light" panose="020B0403020202020204" pitchFamily="34" charset="0"/>
              </a:rPr>
              <a:t>primer_</a:t>
            </a:r>
            <a:r>
              <a:rPr lang="en-US">
                <a:solidFill>
                  <a:srgbClr val="121212"/>
                </a:solidFill>
                <a:effectLst/>
                <a:latin typeface="Helvetica Light" panose="020B0403020202020204" pitchFamily="34" charset="0"/>
              </a:rPr>
              <a:t>python8_pandas_matplotlib.</a:t>
            </a:r>
            <a:r>
              <a:rPr lang="en-US" dirty="0">
                <a:solidFill>
                  <a:srgbClr val="121212"/>
                </a:solidFill>
                <a:effectLst/>
                <a:latin typeface="Helvetica Light" panose="020B0403020202020204" pitchFamily="34" charset="0"/>
              </a:rPr>
              <a:t>ipynb</a:t>
            </a:r>
          </a:p>
          <a:p>
            <a:pPr marL="514350" indent="-514350">
              <a:buAutoNum type="arabicPeriod"/>
            </a:pPr>
            <a:endParaRPr lang="en-US" dirty="0">
              <a:latin typeface="+mj-lt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Helvetica Light" panose="020B0403020202020204" pitchFamily="34" charset="0"/>
              </a:rPr>
              <a:t>Progress on on independent projects (more important?)</a:t>
            </a:r>
          </a:p>
          <a:p>
            <a:pPr marL="514350" indent="-514350">
              <a:buAutoNum type="arabicPeriod"/>
            </a:pPr>
            <a:endParaRPr lang="en-US" dirty="0">
              <a:latin typeface="Helvetica Light" panose="020B0403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Helvetica Light" panose="020B0403020202020204" pitchFamily="34" charset="0"/>
              </a:rPr>
              <a:t>** Presentations start next Thursday (with one early go on Tuesday)</a:t>
            </a: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77296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5481</TotalTime>
  <Words>610</Words>
  <Application>Microsoft Macintosh PowerPoint</Application>
  <PresentationFormat>Widescreen</PresentationFormat>
  <Paragraphs>91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HELVETICA LIGHT</vt:lpstr>
      <vt:lpstr>HELVETICA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L Parchman</dc:creator>
  <cp:lastModifiedBy>Thomas L Parchman</cp:lastModifiedBy>
  <cp:revision>85</cp:revision>
  <dcterms:created xsi:type="dcterms:W3CDTF">2023-11-11T00:22:13Z</dcterms:created>
  <dcterms:modified xsi:type="dcterms:W3CDTF">2025-11-05T18:44:20Z</dcterms:modified>
</cp:coreProperties>
</file>