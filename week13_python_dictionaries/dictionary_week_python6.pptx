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23" r:id="rId2"/>
    <p:sldId id="347" r:id="rId3"/>
    <p:sldId id="359" r:id="rId4"/>
    <p:sldId id="361" r:id="rId5"/>
    <p:sldId id="362" r:id="rId6"/>
    <p:sldId id="364" r:id="rId7"/>
    <p:sldId id="363" r:id="rId8"/>
    <p:sldId id="354" r:id="rId9"/>
    <p:sldId id="366" r:id="rId10"/>
    <p:sldId id="367" r:id="rId11"/>
    <p:sldId id="370" r:id="rId12"/>
    <p:sldId id="371" r:id="rId13"/>
    <p:sldId id="372" r:id="rId14"/>
    <p:sldId id="373" r:id="rId15"/>
    <p:sldId id="374" r:id="rId16"/>
    <p:sldId id="334" r:id="rId17"/>
    <p:sldId id="368" r:id="rId18"/>
    <p:sldId id="369" r:id="rId19"/>
    <p:sldId id="3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73"/>
  </p:normalViewPr>
  <p:slideViewPr>
    <p:cSldViewPr snapToGrid="0" snapToObjects="1">
      <p:cViewPr varScale="1">
        <p:scale>
          <a:sx n="109" d="100"/>
          <a:sy n="109" d="100"/>
        </p:scale>
        <p:origin x="2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39141-2DAA-2346-BEF0-0594A5BB306A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7DD47-6C2A-9C46-B9F9-428C206B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9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07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7DD47-6C2A-9C46-B9F9-428C206BB5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2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21DE-03A3-E54C-A74D-FE203D0BD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1B9C7-93C9-374A-B3AB-C07B1EE17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E19D-4F5B-3C4C-BDAF-0592A676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C701-4A70-1A40-970F-02BE6AD6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526A3-30BB-C740-968F-2E2DAB11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5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9846-59EA-3B49-A3C2-B5BA1823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CC2C-E7FC-0A42-A4C8-3D172383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99FE-E502-F649-8F37-2AC7A8C0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63BF-EBA6-4E4B-BB05-0B3F186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6B799-D0C8-FF43-995B-48135668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0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57A2-0D2F-8F40-8056-04962D40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8863B-6E4B-3D41-8470-596A9E09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2CFF-CE7B-524B-8E69-60F3B7CC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136BF-1D81-AE4F-A439-D2B1818B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97E8-BA06-9243-B81F-BA64337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4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D572-CAFB-7B46-9420-AC8BF80B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9A1A-A728-864C-AA52-83FA8837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E33BA-19E5-2342-9F96-080D0AA08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F5ED7-429A-9946-AB52-E211B788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AD3F6-A938-4F49-974E-91686AAA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B995A-B33C-D644-A9D8-9D97D637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1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6971-CE78-A449-9940-B9E36879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982A-F3AC-1F42-A44F-4F93AB52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05767-0A75-F744-83EB-2ABBB8A16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3F0C-DA55-A94A-8566-A571D10C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1093C-2DB3-3A45-8464-632F7B3F1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44FAE-A407-0841-8837-AB815FB5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8BEF6-796E-FF40-92C3-5826F635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16A67-9957-1F43-A86B-7FA50139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7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F2F0-C1EF-5645-B1C3-C17ECABD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75209-2143-3640-8A88-561C8469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63C6-2505-514C-8311-2A7D16E8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8A312-BACD-1E41-932F-739245B7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8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7468-FDDF-B74F-9618-397A8E3E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D9030-BE3A-2443-AD24-BF914E56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7961C-67F4-F240-8934-46104F14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D1FE-4AF3-794F-9755-4048A1DB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9062-15D5-A14F-9678-9564DF00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5F60B-631E-DA46-BC49-0343C1F0F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38A21-49D0-F841-937D-307631B8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15CD6-3FA4-8C4C-826E-6B07C924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443E6-1A72-B049-9128-F1008D5D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E449-A316-9441-82B6-DC39CC27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AAB58-E781-1342-AF4C-9D8F211B6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7E1A-2DDA-CE48-BE06-C7790C3D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F6C5B-AF09-A145-8C61-DC4C7E24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E5D7-0495-0A4F-A34D-C44ADCCA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3474D-6D93-174E-B74D-12D3313F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1156-CF4C-2648-A1D0-8B698DD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024C8-FFC9-1C47-B617-FA17E8380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95B8-B863-3C4E-AB10-3C2E5CE2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443F-38C3-794B-8D71-04596D2F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AE92-CCC1-E34A-A93B-284F936B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1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8E63E-F6D2-1C4D-8646-75D45F92F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819F8-41DD-AC4F-BAEE-B5B45B9AE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5548-83E8-764A-A5F8-B48CC3AE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9F3F-015A-DA40-9269-8338888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8FFB-9298-D042-9130-761F5AA4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A5A23-30DE-1A4B-ABDC-C5E043E3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F016E-611A-104C-8387-1E8E084E7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95FD-F653-2048-BD10-AD4E1E6DC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9884C-D6B0-574D-ABEB-4B3275C742B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CE9C-1107-1943-AE2F-BC977CEAD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46A9D-FA12-4344-8EA0-191646275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3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961994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Dictionaries (see python for biologist’s dictionary tutorial)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More on arrays, loops, regular expressions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A few scripts using dictionaries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83255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Week 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901641" y="4926558"/>
            <a:ext cx="1038871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HELVETICA LIGHT" panose="020B0403020202020204" pitchFamily="34" charset="0"/>
              </a:rPr>
              <a:t>primer_dictionaries.ipynb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</a:t>
            </a:r>
            <a:r>
              <a:rPr lang="en-US" sz="2800" b="1" dirty="0" err="1">
                <a:latin typeface="HELVETICA LIGHT" panose="020B0403020202020204" pitchFamily="34" charset="0"/>
              </a:rPr>
              <a:t>dictionary_week_assignment.ipynb</a:t>
            </a:r>
            <a:endParaRPr lang="en-US" sz="2800" b="1" dirty="0">
              <a:latin typeface="HELVETICA LIGHT" panose="020B0403020202020204" pitchFamily="34" charset="0"/>
            </a:endParaRPr>
          </a:p>
          <a:p>
            <a:endParaRPr lang="en-US" sz="2800" dirty="0">
              <a:ln>
                <a:solidFill>
                  <a:schemeClr val="tx1"/>
                </a:solidFill>
              </a:ln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76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1013519" y="311015"/>
            <a:ext cx="1016496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Dictionaries: fast storage and retrieval of paired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55498-6E99-ED41-8856-B4681B19B40C}"/>
              </a:ext>
            </a:extLst>
          </p:cNvPr>
          <p:cNvSpPr txBox="1"/>
          <p:nvPr/>
        </p:nvSpPr>
        <p:spPr>
          <a:xfrm>
            <a:off x="540739" y="1753365"/>
            <a:ext cx="1111052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Data structures that store pairs of objects. Each </a:t>
            </a:r>
            <a:r>
              <a:rPr lang="en-US" sz="2600" b="1" dirty="0">
                <a:latin typeface="Helvetica Light" panose="020B0403020202020204" pitchFamily="34" charset="0"/>
              </a:rPr>
              <a:t>item</a:t>
            </a:r>
            <a:r>
              <a:rPr lang="en-US" sz="2600" dirty="0">
                <a:latin typeface="Helvetica Light" panose="020B0403020202020204" pitchFamily="34" charset="0"/>
              </a:rPr>
              <a:t> in a dictionary contains a </a:t>
            </a:r>
            <a:r>
              <a:rPr lang="en-US" sz="2600" b="1" dirty="0">
                <a:latin typeface="Helvetica Light" panose="020B0403020202020204" pitchFamily="34" charset="0"/>
              </a:rPr>
              <a:t>key</a:t>
            </a:r>
            <a:r>
              <a:rPr lang="en-US" sz="2600" dirty="0">
                <a:latin typeface="Helvetica Light" panose="020B0403020202020204" pitchFamily="34" charset="0"/>
              </a:rPr>
              <a:t> : </a:t>
            </a:r>
            <a:r>
              <a:rPr lang="en-US" sz="2600" b="1" dirty="0">
                <a:latin typeface="Helvetica Light" panose="020B0403020202020204" pitchFamily="34" charset="0"/>
              </a:rPr>
              <a:t>value</a:t>
            </a:r>
            <a:r>
              <a:rPr lang="en-US" sz="2600" dirty="0">
                <a:latin typeface="Helvetica Light" panose="020B0403020202020204" pitchFamily="34" charset="0"/>
              </a:rPr>
              <a:t> pair.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Items are unordered, values are looked up by their keys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Accessing information in </a:t>
            </a:r>
            <a:r>
              <a:rPr lang="en-US" sz="2600" b="1" dirty="0">
                <a:latin typeface="Helvetica Light" panose="020B0403020202020204" pitchFamily="34" charset="0"/>
              </a:rPr>
              <a:t>dictionaries</a:t>
            </a:r>
            <a:r>
              <a:rPr lang="en-US" sz="2600" dirty="0">
                <a:latin typeface="Helvetica Light" panose="020B0403020202020204" pitchFamily="34" charset="0"/>
              </a:rPr>
              <a:t> is MUCH faster than accessing information in </a:t>
            </a:r>
            <a:r>
              <a:rPr lang="en-US" sz="2600" b="1" dirty="0">
                <a:latin typeface="Helvetica Light" panose="020B0403020202020204" pitchFamily="34" charset="0"/>
              </a:rPr>
              <a:t>lists</a:t>
            </a:r>
            <a:r>
              <a:rPr lang="en-US" sz="2600" dirty="0">
                <a:latin typeface="Helvetica Light" panose="020B0403020202020204" pitchFamily="34" charset="0"/>
              </a:rPr>
              <a:t>.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487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3451883" y="218045"/>
            <a:ext cx="409919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Building Dictionaries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1A1AC-0E83-2F43-BF5E-040EF7A48BB4}"/>
              </a:ext>
            </a:extLst>
          </p:cNvPr>
          <p:cNvSpPr/>
          <p:nvPr/>
        </p:nvSpPr>
        <p:spPr>
          <a:xfrm>
            <a:off x="970238" y="2412370"/>
            <a:ext cx="97711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book = {'Ken':'25998','Mick':'3544', 'Jen':'9875'}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EB66F6-4F0C-0E41-85ED-FA36F033D609}"/>
              </a:ext>
            </a:extLst>
          </p:cNvPr>
          <p:cNvSpPr/>
          <p:nvPr/>
        </p:nvSpPr>
        <p:spPr>
          <a:xfrm>
            <a:off x="970238" y="4366066"/>
            <a:ext cx="97711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book = 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'Ken':'25998’,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'Mick':'3544’,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'Jen':'9875’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6034F-CC9C-234D-8924-C0E4A4D15C80}"/>
              </a:ext>
            </a:extLst>
          </p:cNvPr>
          <p:cNvSpPr txBox="1"/>
          <p:nvPr/>
        </p:nvSpPr>
        <p:spPr>
          <a:xfrm>
            <a:off x="970238" y="3168913"/>
            <a:ext cx="994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For text within curly brackets, python’s indentation rules are relaxed. Below is much easier to read.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341BF-4F79-5046-A110-09B72EAE94F3}"/>
              </a:ext>
            </a:extLst>
          </p:cNvPr>
          <p:cNvSpPr txBox="1"/>
          <p:nvPr/>
        </p:nvSpPr>
        <p:spPr>
          <a:xfrm>
            <a:off x="880927" y="1286495"/>
            <a:ext cx="994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Key : value pairs are listed within curly brackets. Can be any types of scalar (string, digit, float)</a:t>
            </a:r>
          </a:p>
        </p:txBody>
      </p:sp>
    </p:spTree>
    <p:extLst>
      <p:ext uri="{BB962C8B-B14F-4D97-AF65-F5344CB8AC3E}">
        <p14:creationId xmlns:p14="http://schemas.microsoft.com/office/powerpoint/2010/main" val="185470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3451883" y="218045"/>
            <a:ext cx="54857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Accessing values from keys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1A1AC-0E83-2F43-BF5E-040EF7A48BB4}"/>
              </a:ext>
            </a:extLst>
          </p:cNvPr>
          <p:cNvSpPr/>
          <p:nvPr/>
        </p:nvSpPr>
        <p:spPr>
          <a:xfrm>
            <a:off x="1049368" y="4562327"/>
            <a:ext cx="103102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Ken_value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book['Ken']	 # assigns 25998 to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Ken_value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(book['Ken'])		# prints 25998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EB66F6-4F0C-0E41-85ED-FA36F033D609}"/>
              </a:ext>
            </a:extLst>
          </p:cNvPr>
          <p:cNvSpPr/>
          <p:nvPr/>
        </p:nvSpPr>
        <p:spPr>
          <a:xfrm>
            <a:off x="1309188" y="1295237"/>
            <a:ext cx="97711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book = {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'Ken':'25998’,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'Mick':'3544’,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'Jen':'9875’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8341BF-4F79-5046-A110-09B72EAE94F3}"/>
              </a:ext>
            </a:extLst>
          </p:cNvPr>
          <p:cNvSpPr txBox="1"/>
          <p:nvPr/>
        </p:nvSpPr>
        <p:spPr>
          <a:xfrm>
            <a:off x="960058" y="3436452"/>
            <a:ext cx="994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Name of dictionary, followed by key in square brackets returns the value associated with that key</a:t>
            </a:r>
          </a:p>
        </p:txBody>
      </p:sp>
    </p:spTree>
    <p:extLst>
      <p:ext uri="{BB962C8B-B14F-4D97-AF65-F5344CB8AC3E}">
        <p14:creationId xmlns:p14="http://schemas.microsoft.com/office/powerpoint/2010/main" val="115686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3451883" y="218045"/>
            <a:ext cx="386195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Dictionary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DC81BE-0603-0742-841F-4695BBFC19F1}"/>
              </a:ext>
            </a:extLst>
          </p:cNvPr>
          <p:cNvSpPr txBox="1"/>
          <p:nvPr/>
        </p:nvSpPr>
        <p:spPr>
          <a:xfrm>
            <a:off x="1292469" y="1600200"/>
            <a:ext cx="8374408" cy="4078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.keys() returns a list of keys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.pop() removes a value for a specified key. 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.get() gets a value, similar to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Dictname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keyname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.values() returns a list of values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.items() returns items (key value pairs)</a:t>
            </a:r>
          </a:p>
          <a:p>
            <a:endParaRPr lang="en-US" sz="25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353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3451883" y="218045"/>
            <a:ext cx="386195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Dictionary methods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4548A-99B7-1244-AACF-87B8D7F7753F}"/>
              </a:ext>
            </a:extLst>
          </p:cNvPr>
          <p:cNvSpPr/>
          <p:nvPr/>
        </p:nvSpPr>
        <p:spPr>
          <a:xfrm>
            <a:off x="1014199" y="1449851"/>
            <a:ext cx="10310293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Ctemp.keys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# returns a list of keys</a:t>
            </a:r>
          </a:p>
          <a:p>
            <a:r>
              <a:rPr lang="en-US" sz="2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K </a:t>
            </a:r>
            <a:r>
              <a:rPr lang="en-US" sz="2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Klist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(K) ## prints keys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62A94-1CC7-A342-9029-3C43CE8D48DE}"/>
              </a:ext>
            </a:extLst>
          </p:cNvPr>
          <p:cNvSpPr txBox="1"/>
          <p:nvPr/>
        </p:nvSpPr>
        <p:spPr>
          <a:xfrm>
            <a:off x="1014199" y="3121270"/>
            <a:ext cx="922560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Vlist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Ctemp.values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# returns a list of values</a:t>
            </a:r>
          </a:p>
          <a:p>
            <a:r>
              <a:rPr lang="en-US" sz="2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 </a:t>
            </a:r>
            <a:r>
              <a:rPr lang="en-US" sz="25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Vlist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(V) ## prints values</a:t>
            </a:r>
          </a:p>
          <a:p>
            <a:endParaRPr lang="en-US" sz="2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0D0A7-ED84-1549-8466-C5B21C05971E}"/>
              </a:ext>
            </a:extLst>
          </p:cNvPr>
          <p:cNvSpPr txBox="1"/>
          <p:nvPr/>
        </p:nvSpPr>
        <p:spPr>
          <a:xfrm>
            <a:off x="1014199" y="5025048"/>
            <a:ext cx="1086420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Ctemp.pop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(key))	# removes value and specified 					key from dictionary, and returns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249340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2712702" y="297176"/>
            <a:ext cx="676659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Building Dictionaries with real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1A1AC-0E83-2F43-BF5E-040EF7A48BB4}"/>
              </a:ext>
            </a:extLst>
          </p:cNvPr>
          <p:cNvSpPr/>
          <p:nvPr/>
        </p:nvSpPr>
        <p:spPr>
          <a:xfrm>
            <a:off x="653714" y="3203677"/>
            <a:ext cx="1067957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={} # initializing the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dictionary</a:t>
            </a:r>
          </a:p>
          <a:p>
            <a:b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5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Line </a:t>
            </a:r>
            <a:r>
              <a:rPr lang="en-US" sz="2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IN:</a:t>
            </a: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ID =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('\n’)</a:t>
            </a: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Seq =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IN.readline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Seq =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Seq.strip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('\n’)</a:t>
            </a: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[ID]=Seq # building the </a:t>
            </a:r>
            <a:r>
              <a:rPr lang="en-US" sz="2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dictionary</a:t>
            </a:r>
          </a:p>
          <a:p>
            <a:endParaRPr lang="en-US" sz="25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#WORK ON DICTIONARY OUTSIDE OF LOOP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E7BBA1-A782-E645-B571-E9F5EBA9A7A5}"/>
              </a:ext>
            </a:extLst>
          </p:cNvPr>
          <p:cNvSpPr/>
          <p:nvPr/>
        </p:nvSpPr>
        <p:spPr>
          <a:xfrm>
            <a:off x="671300" y="1048021"/>
            <a:ext cx="8249964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&gt;scaffold_99995</a:t>
            </a:r>
          </a:p>
          <a:p>
            <a:r>
              <a:rPr lang="en-US" dirty="0"/>
              <a:t>TCAGAATCTTGCTACTCATGAACGTATGTTGGGGATCCTTCTATGACCCTATGGCTGAGGTAGAG</a:t>
            </a:r>
          </a:p>
          <a:p>
            <a:r>
              <a:rPr lang="en-US" dirty="0"/>
              <a:t>&gt;scaffold_99996</a:t>
            </a:r>
          </a:p>
          <a:p>
            <a:r>
              <a:rPr lang="en-US" dirty="0"/>
              <a:t>AAAGCAAGAATGAAGAGGTAGGGGCTGGAGAGTTCTTTTACTATAACAGTCAGACCAAAAAAA</a:t>
            </a:r>
          </a:p>
          <a:p>
            <a:r>
              <a:rPr lang="en-US" dirty="0"/>
              <a:t>&gt;scaffold_99998</a:t>
            </a:r>
          </a:p>
          <a:p>
            <a:r>
              <a:rPr lang="en-US" dirty="0"/>
              <a:t>TGTAATACTTCAGGCCAATTTCTACAGTAAATTGAGCGCATTCAGCACAACCAAGTGCAGCCAGC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3A256-FF4B-2641-8655-DA738EF719AB}"/>
              </a:ext>
            </a:extLst>
          </p:cNvPr>
          <p:cNvSpPr/>
          <p:nvPr/>
        </p:nvSpPr>
        <p:spPr>
          <a:xfrm>
            <a:off x="9188113" y="1048021"/>
            <a:ext cx="2268263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Data format in hypothetical .</a:t>
            </a:r>
            <a:r>
              <a:rPr lang="en-US" dirty="0" err="1"/>
              <a:t>fasta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16003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2818837" y="265815"/>
            <a:ext cx="563487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Iterating through dictionaries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789711" y="1968651"/>
            <a:ext cx="7172496" cy="34163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thing </a:t>
            </a:r>
            <a:r>
              <a:rPr lang="en-US" sz="2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ID_Seq.keys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(thing)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[thing])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sz="2200" dirty="0"/>
              <a:t>Each iteration through the loop above, "thing" is assigned a key. Hence, the code will print each key followed by its value on the following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47205-0F15-AD49-9EB6-A643C8ADE0DF}"/>
              </a:ext>
            </a:extLst>
          </p:cNvPr>
          <p:cNvSpPr txBox="1"/>
          <p:nvPr/>
        </p:nvSpPr>
        <p:spPr>
          <a:xfrm>
            <a:off x="7962206" y="2353371"/>
            <a:ext cx="3078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Each key assigned to ‘thing’ within loop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5E0DE3-0ADE-0744-9CC0-BF0AD01D2F99}"/>
              </a:ext>
            </a:extLst>
          </p:cNvPr>
          <p:cNvCxnSpPr>
            <a:cxnSpLocks/>
          </p:cNvCxnSpPr>
          <p:nvPr/>
        </p:nvCxnSpPr>
        <p:spPr>
          <a:xfrm flipH="1">
            <a:off x="5863249" y="1662743"/>
            <a:ext cx="2507028" cy="26589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34B6-7ED2-0F43-882A-2FECA6E22D04}"/>
              </a:ext>
            </a:extLst>
          </p:cNvPr>
          <p:cNvSpPr txBox="1"/>
          <p:nvPr/>
        </p:nvSpPr>
        <p:spPr>
          <a:xfrm>
            <a:off x="8159263" y="3542844"/>
            <a:ext cx="37191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The value associated with each key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95DFA-B9BD-B749-961A-C71DA67BA133}"/>
              </a:ext>
            </a:extLst>
          </p:cNvPr>
          <p:cNvSpPr txBox="1"/>
          <p:nvPr/>
        </p:nvSpPr>
        <p:spPr>
          <a:xfrm>
            <a:off x="8770486" y="1278023"/>
            <a:ext cx="2294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Loop through by key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86CAE8-3619-1D46-BB32-38B7B7CEEC67}"/>
              </a:ext>
            </a:extLst>
          </p:cNvPr>
          <p:cNvCxnSpPr>
            <a:cxnSpLocks/>
          </p:cNvCxnSpPr>
          <p:nvPr/>
        </p:nvCxnSpPr>
        <p:spPr>
          <a:xfrm flipH="1" flipV="1">
            <a:off x="5591068" y="3274720"/>
            <a:ext cx="2568194" cy="54114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E530A-D716-A342-8EAD-7E163DAAFC0C}"/>
              </a:ext>
            </a:extLst>
          </p:cNvPr>
          <p:cNvCxnSpPr>
            <a:cxnSpLocks/>
          </p:cNvCxnSpPr>
          <p:nvPr/>
        </p:nvCxnSpPr>
        <p:spPr>
          <a:xfrm flipH="1">
            <a:off x="5046785" y="2666558"/>
            <a:ext cx="2800431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9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1642381" y="253125"/>
            <a:ext cx="844173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Iterating through dictionaries, sorted by key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789711" y="1968651"/>
            <a:ext cx="7172496" cy="34163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thing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sorted(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ID_Seq.keys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(thing)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[thing])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sz="2200" dirty="0"/>
              <a:t>Each iteration through the loop above, "thing" is assigned a key. Hence, the code will print to screen each key followed by its value on the following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47205-0F15-AD49-9EB6-A643C8ADE0DF}"/>
              </a:ext>
            </a:extLst>
          </p:cNvPr>
          <p:cNvSpPr txBox="1"/>
          <p:nvPr/>
        </p:nvSpPr>
        <p:spPr>
          <a:xfrm>
            <a:off x="7962206" y="2353371"/>
            <a:ext cx="3078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Each key assigned to ‘thing’ within loop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5E0DE3-0ADE-0744-9CC0-BF0AD01D2F99}"/>
              </a:ext>
            </a:extLst>
          </p:cNvPr>
          <p:cNvCxnSpPr>
            <a:cxnSpLocks/>
          </p:cNvCxnSpPr>
          <p:nvPr/>
        </p:nvCxnSpPr>
        <p:spPr>
          <a:xfrm flipH="1">
            <a:off x="5863249" y="1662743"/>
            <a:ext cx="2507028" cy="26589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34B6-7ED2-0F43-882A-2FECA6E22D04}"/>
              </a:ext>
            </a:extLst>
          </p:cNvPr>
          <p:cNvSpPr txBox="1"/>
          <p:nvPr/>
        </p:nvSpPr>
        <p:spPr>
          <a:xfrm>
            <a:off x="8159263" y="3542844"/>
            <a:ext cx="37191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The value associated with each key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95DFA-B9BD-B749-961A-C71DA67BA133}"/>
              </a:ext>
            </a:extLst>
          </p:cNvPr>
          <p:cNvSpPr txBox="1"/>
          <p:nvPr/>
        </p:nvSpPr>
        <p:spPr>
          <a:xfrm>
            <a:off x="8770486" y="1278023"/>
            <a:ext cx="2294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Loop through by sorted keys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86CAE8-3619-1D46-BB32-38B7B7CEEC67}"/>
              </a:ext>
            </a:extLst>
          </p:cNvPr>
          <p:cNvCxnSpPr>
            <a:cxnSpLocks/>
          </p:cNvCxnSpPr>
          <p:nvPr/>
        </p:nvCxnSpPr>
        <p:spPr>
          <a:xfrm flipH="1" flipV="1">
            <a:off x="5591068" y="3274720"/>
            <a:ext cx="2568194" cy="54114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E530A-D716-A342-8EAD-7E163DAAFC0C}"/>
              </a:ext>
            </a:extLst>
          </p:cNvPr>
          <p:cNvCxnSpPr>
            <a:cxnSpLocks/>
          </p:cNvCxnSpPr>
          <p:nvPr/>
        </p:nvCxnSpPr>
        <p:spPr>
          <a:xfrm flipH="1">
            <a:off x="5046785" y="2666558"/>
            <a:ext cx="2800431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1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1642381" y="253125"/>
            <a:ext cx="726352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Iterating through dictionaries, by item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789710" y="1968651"/>
            <a:ext cx="7263527" cy="34163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key, value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ID_Seq.items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>
                <a:latin typeface="Courier New" panose="02070309020205020404" pitchFamily="49" charset="0"/>
                <a:cs typeface="Courier New" panose="02070309020205020404" pitchFamily="49" charset="0"/>
              </a:rPr>
              <a:t>(key)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(value)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sz="2200" dirty="0"/>
              <a:t>Each iteration through the loop above, "thing" is assigned a key. Hence, the code will print to screen each key followed by its value on the following 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347205-0F15-AD49-9EB6-A643C8ADE0DF}"/>
              </a:ext>
            </a:extLst>
          </p:cNvPr>
          <p:cNvSpPr txBox="1"/>
          <p:nvPr/>
        </p:nvSpPr>
        <p:spPr>
          <a:xfrm>
            <a:off x="8522677" y="2281837"/>
            <a:ext cx="3078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Each key assigned to ‘thing’ within loop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5E0DE3-0ADE-0744-9CC0-BF0AD01D2F99}"/>
              </a:ext>
            </a:extLst>
          </p:cNvPr>
          <p:cNvCxnSpPr>
            <a:cxnSpLocks/>
          </p:cNvCxnSpPr>
          <p:nvPr/>
        </p:nvCxnSpPr>
        <p:spPr>
          <a:xfrm flipH="1">
            <a:off x="5863249" y="1662743"/>
            <a:ext cx="2507028" cy="26589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34B6-7ED2-0F43-882A-2FECA6E22D04}"/>
              </a:ext>
            </a:extLst>
          </p:cNvPr>
          <p:cNvSpPr txBox="1"/>
          <p:nvPr/>
        </p:nvSpPr>
        <p:spPr>
          <a:xfrm>
            <a:off x="8624555" y="3411415"/>
            <a:ext cx="37191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The value associated with each key, variable name assigned in for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95DFA-B9BD-B749-961A-C71DA67BA133}"/>
              </a:ext>
            </a:extLst>
          </p:cNvPr>
          <p:cNvSpPr txBox="1"/>
          <p:nvPr/>
        </p:nvSpPr>
        <p:spPr>
          <a:xfrm>
            <a:off x="8770486" y="1278023"/>
            <a:ext cx="2294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Loop through dictionary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86CAE8-3619-1D46-BB32-38B7B7CEEC67}"/>
              </a:ext>
            </a:extLst>
          </p:cNvPr>
          <p:cNvCxnSpPr>
            <a:cxnSpLocks/>
          </p:cNvCxnSpPr>
          <p:nvPr/>
        </p:nvCxnSpPr>
        <p:spPr>
          <a:xfrm flipH="1" flipV="1">
            <a:off x="5591068" y="3274721"/>
            <a:ext cx="2931609" cy="46718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E530A-D716-A342-8EAD-7E163DAAFC0C}"/>
              </a:ext>
            </a:extLst>
          </p:cNvPr>
          <p:cNvCxnSpPr>
            <a:cxnSpLocks/>
          </p:cNvCxnSpPr>
          <p:nvPr/>
        </p:nvCxnSpPr>
        <p:spPr>
          <a:xfrm flipH="1">
            <a:off x="5046786" y="2666558"/>
            <a:ext cx="3475891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33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1BB476-7284-7179-B88E-A48C5FF6CD7D}"/>
              </a:ext>
            </a:extLst>
          </p:cNvPr>
          <p:cNvSpPr txBox="1"/>
          <p:nvPr/>
        </p:nvSpPr>
        <p:spPr>
          <a:xfrm>
            <a:off x="872834" y="1705358"/>
            <a:ext cx="108619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Bengals = {'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Offense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{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Burrow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Boyd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Brown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Higgins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"}, </a:t>
            </a:r>
          </a:p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Defense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{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Taylor-Britt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Wilson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Turner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Hilton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Scott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870B5-C084-489B-4302-90D54836F268}"/>
              </a:ext>
            </a:extLst>
          </p:cNvPr>
          <p:cNvSpPr txBox="1"/>
          <p:nvPr/>
        </p:nvSpPr>
        <p:spPr>
          <a:xfrm>
            <a:off x="1427018" y="460943"/>
            <a:ext cx="1076498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Nested Dictionaries: Dictionaries of dictionaries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7030C-A717-BD51-4F6D-BBBBFC236FE2}"/>
              </a:ext>
            </a:extLst>
          </p:cNvPr>
          <p:cNvSpPr txBox="1"/>
          <p:nvPr/>
        </p:nvSpPr>
        <p:spPr>
          <a:xfrm>
            <a:off x="872834" y="4102195"/>
            <a:ext cx="108619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Accessing element using key </a:t>
            </a:r>
          </a:p>
          <a:p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Offense </a:t>
            </a:r>
            <a:r>
              <a:rPr lang="en-US" sz="22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", Bengals['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Offense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']) </a:t>
            </a:r>
          </a:p>
          <a:p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Offense, number 1: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Bengals['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Offense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'][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</a:p>
          <a:p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Defense, number 29: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Bengals['</a:t>
            </a:r>
            <a:r>
              <a:rPr lang="en-US" sz="2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Defense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'][</a:t>
            </a:r>
            <a:r>
              <a:rPr lang="en-US" sz="22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</a:p>
        </p:txBody>
      </p:sp>
    </p:spTree>
    <p:extLst>
      <p:ext uri="{BB962C8B-B14F-4D97-AF65-F5344CB8AC3E}">
        <p14:creationId xmlns:p14="http://schemas.microsoft.com/office/powerpoint/2010/main" val="397393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FF45F2-B7CA-4974-ACA8-4CF99F4D64A5}"/>
              </a:ext>
            </a:extLst>
          </p:cNvPr>
          <p:cNvSpPr txBox="1"/>
          <p:nvPr/>
        </p:nvSpPr>
        <p:spPr>
          <a:xfrm>
            <a:off x="480646" y="516376"/>
            <a:ext cx="11230708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300" b="1" dirty="0">
                <a:latin typeface="HELVETICA LIGHT" panose="020B0403020202020204" pitchFamily="34" charset="0"/>
              </a:rPr>
              <a:t>Why Dictionaries are useful in Bioinformatics</a:t>
            </a:r>
          </a:p>
          <a:p>
            <a:br>
              <a:rPr lang="en-US" sz="2800" dirty="0">
                <a:latin typeface="Helvetica Light" panose="020B0403020202020204" pitchFamily="34" charset="0"/>
              </a:rPr>
            </a:br>
            <a:r>
              <a:rPr lang="en-US" sz="2800" dirty="0">
                <a:latin typeface="Helvetica Light" panose="020B0403020202020204" pitchFamily="34" charset="0"/>
              </a:rPr>
              <a:t>Genomic data is often inherently ”keyed”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Helvetica Light" panose="020B0403020202020204" pitchFamily="34" charset="0"/>
              </a:rPr>
              <a:t>Fast lookup of biological entities (genes, transcripts, samples)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Helvetica Light" panose="020B0403020202020204" pitchFamily="34" charset="0"/>
              </a:rPr>
              <a:t>Flexible storage for complex annotations and metadata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800" dirty="0">
                <a:latin typeface="Helvetica Light" panose="020B0403020202020204" pitchFamily="34" charset="0"/>
              </a:rPr>
              <a:t>Human-readable keys that reflect biological meaning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- Natural fit for hierarchical biological data (genome → chromosome → gene → exon)</a:t>
            </a:r>
          </a:p>
        </p:txBody>
      </p:sp>
    </p:spTree>
    <p:extLst>
      <p:ext uri="{BB962C8B-B14F-4D97-AF65-F5344CB8AC3E}">
        <p14:creationId xmlns:p14="http://schemas.microsoft.com/office/powerpoint/2010/main" val="374344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5129B-9103-1182-CA48-F172494F7AB6}"/>
              </a:ext>
            </a:extLst>
          </p:cNvPr>
          <p:cNvSpPr txBox="1"/>
          <p:nvPr/>
        </p:nvSpPr>
        <p:spPr>
          <a:xfrm>
            <a:off x="293077" y="487740"/>
            <a:ext cx="12215446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400" b="1" dirty="0">
                <a:solidFill>
                  <a:srgbClr val="0E0E0E"/>
                </a:solidFill>
                <a:effectLst/>
                <a:latin typeface="HELVETICA LIGHT" panose="020B0403020202020204" pitchFamily="34" charset="0"/>
              </a:rPr>
              <a:t>Common Dictionary Patterns in Bioinformatics</a:t>
            </a:r>
          </a:p>
          <a:p>
            <a:pPr>
              <a:buNone/>
            </a:pPr>
            <a:br>
              <a:rPr lang="en-US" sz="2800" dirty="0">
                <a:latin typeface="Helvetica Light" panose="020B0403020202020204" pitchFamily="34" charset="0"/>
              </a:rPr>
            </a:br>
            <a:r>
              <a:rPr lang="en-US" sz="2800" dirty="0">
                <a:latin typeface="Helvetica Light" panose="020B0403020202020204" pitchFamily="34" charset="0"/>
              </a:rPr>
              <a:t>Gene → metadata (coordinates, product, GO terms)</a:t>
            </a:r>
          </a:p>
          <a:p>
            <a:pPr>
              <a:buNone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Light" panose="020B0403020202020204" pitchFamily="34" charset="0"/>
              </a:rPr>
              <a:t>Chromosome → list of features (genes, CDS, repeats)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Light" panose="020B0403020202020204" pitchFamily="34" charset="0"/>
              </a:rPr>
              <a:t>Transcript → exons (hierarchical relationships)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Light" panose="020B0403020202020204" pitchFamily="34" charset="0"/>
              </a:rPr>
              <a:t>Sequence ID → sequence (FASTA headers → DNA/protein)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Light" panose="020B0403020202020204" pitchFamily="34" charset="0"/>
              </a:rPr>
              <a:t>Feature type → count (CDS, intron, ncRNA, TE)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Light" panose="020B0403020202020204" pitchFamily="34" charset="0"/>
              </a:rPr>
              <a:t>Sample → summary statistics (coverage, read counts, expression)</a:t>
            </a:r>
          </a:p>
        </p:txBody>
      </p:sp>
    </p:spTree>
    <p:extLst>
      <p:ext uri="{BB962C8B-B14F-4D97-AF65-F5344CB8AC3E}">
        <p14:creationId xmlns:p14="http://schemas.microsoft.com/office/powerpoint/2010/main" val="3500302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F4C13-2372-410A-3DB6-F755CA907FE0}"/>
              </a:ext>
            </a:extLst>
          </p:cNvPr>
          <p:cNvSpPr txBox="1"/>
          <p:nvPr/>
        </p:nvSpPr>
        <p:spPr>
          <a:xfrm>
            <a:off x="703385" y="466141"/>
            <a:ext cx="11125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400" dirty="0">
                <a:latin typeface="Helvetica Light" panose="020B0403020202020204" pitchFamily="34" charset="0"/>
              </a:rPr>
              <a:t>Counting the number of times a list of things occurs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@NDW_AM_38722 -- 1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TTTTGCACCAAGATAGTTTCAAAAGGCACCAAAATATAGGAGAAGACTAAATTGTTCTTTGAACACCCCTTTTCTTTGGACATGTT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+HISEQ2_0901:1:1101:1170:1968#0/1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ihiihiiiiiiiiiiihiiiiiiiiiiiiihiiiiiiiiiiihhiiiiiiiiiifghiiiifdgggeeecddddccccbccccccc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@NVP_CY_48141 -- 2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CTGTAGCCCTTTGATATTCCAGCTTGCCTTCAAAGCCATCTTAGCGCAGCGCCAAAAATCTAATTTCCAGAAGGCACAGAAGGA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+HISEQ2_0901:1:1101:1211:1993#0/1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ihib`efgghhiihhffheghhgfff_aSafffhgceghgdgghgffghiggeecdbccbbcbdcdZ`cb`bcc^a[</a:t>
            </a:r>
            <a:r>
              <a:rPr lang="en-US" sz="1600" dirty="0" err="1">
                <a:latin typeface="Courier New" panose="02070309020205020404" pitchFamily="49" charset="0"/>
              </a:rPr>
              <a:t>bbccbcc</a:t>
            </a:r>
            <a:endParaRPr lang="en-US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@NVP_CY_48147 -- 3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TTTTTGTCCAGCCTTACTGTATCTAGGTGTCATGGGTTCAGGAGAGAAAGTAAGCCTCAGACAAAATTTTTGTTTCCTTTCACTGA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+HISEQ2_0901:1:1101:1359:1946#0/1</a:t>
            </a:r>
          </a:p>
          <a:p>
            <a:pPr>
              <a:buNone/>
            </a:pPr>
            <a:r>
              <a:rPr lang="en-US" sz="1600" dirty="0">
                <a:latin typeface="Courier New" panose="02070309020205020404" pitchFamily="49" charset="0"/>
              </a:rPr>
              <a:t>Iiiiiiiiiidhhiiiibfggiihiiifhhfgiihibfhiiiihihiiiigghgggggbecccdbabdccccaccccccccccccb</a:t>
            </a:r>
          </a:p>
          <a:p>
            <a:pPr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b="1" dirty="0">
                <a:latin typeface="Helvetica Light" panose="020B0403020202020204" pitchFamily="34" charset="0"/>
              </a:rPr>
              <a:t>In this file: </a:t>
            </a:r>
            <a:r>
              <a:rPr lang="en-US" sz="2800" dirty="0">
                <a:latin typeface="Helvetica Light" panose="020B0403020202020204" pitchFamily="34" charset="0"/>
              </a:rPr>
              <a:t>192 samples (birds), 25,000,000 DNA sequences</a:t>
            </a:r>
          </a:p>
          <a:p>
            <a:pPr>
              <a:buNone/>
            </a:pPr>
            <a:endParaRPr lang="en-US" sz="2800" dirty="0">
              <a:latin typeface="Helvetica Light" panose="020B0403020202020204" pitchFamily="34" charset="0"/>
            </a:endParaRPr>
          </a:p>
          <a:p>
            <a:pPr>
              <a:buNone/>
            </a:pPr>
            <a:r>
              <a:rPr lang="en-US" sz="2800" dirty="0">
                <a:latin typeface="Helvetica Light" panose="020B0403020202020204" pitchFamily="34" charset="0"/>
              </a:rPr>
              <a:t>How many sequences are there for each individual bird?</a:t>
            </a:r>
          </a:p>
        </p:txBody>
      </p:sp>
    </p:spTree>
    <p:extLst>
      <p:ext uri="{BB962C8B-B14F-4D97-AF65-F5344CB8AC3E}">
        <p14:creationId xmlns:p14="http://schemas.microsoft.com/office/powerpoint/2010/main" val="2329913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486C9E6-00A9-EE6C-6BB8-B7CC4DCF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10343"/>
            <a:ext cx="7772400" cy="5560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703D61-FB0C-1211-33A3-B61FDF533874}"/>
              </a:ext>
            </a:extLst>
          </p:cNvPr>
          <p:cNvSpPr txBox="1"/>
          <p:nvPr/>
        </p:nvSpPr>
        <p:spPr>
          <a:xfrm>
            <a:off x="0" y="187166"/>
            <a:ext cx="12192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400" dirty="0">
                <a:latin typeface="Helvetica Light" panose="020B0403020202020204" pitchFamily="34" charset="0"/>
              </a:rPr>
              <a:t>Counting the number of times a list of things occurs</a:t>
            </a:r>
          </a:p>
        </p:txBody>
      </p:sp>
    </p:spTree>
    <p:extLst>
      <p:ext uri="{BB962C8B-B14F-4D97-AF65-F5344CB8AC3E}">
        <p14:creationId xmlns:p14="http://schemas.microsoft.com/office/powerpoint/2010/main" val="2599967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337325" y="1807940"/>
            <a:ext cx="586410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I.  </a:t>
            </a:r>
            <a:r>
              <a:rPr lang="en-US" sz="2800" dirty="0">
                <a:latin typeface="Helvetica Light" panose="020B0403020202020204" pitchFamily="34" charset="0"/>
              </a:rPr>
              <a:t>Breathe</a:t>
            </a:r>
          </a:p>
          <a:p>
            <a:pPr marL="571500" indent="-571500">
              <a:buAutoNum type="romanUcPeriod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II.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python_6_primer</a:t>
            </a:r>
            <a:r>
              <a:rPr lang="en-US" sz="280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.</a:t>
            </a:r>
            <a:r>
              <a:rPr lang="en-US" sz="2800">
                <a:ln>
                  <a:solidFill>
                    <a:schemeClr val="tx1"/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  <a:cs typeface="Courier New" panose="02070309020205020404" pitchFamily="49" charset="0"/>
              </a:rPr>
              <a:t>ipynb</a:t>
            </a:r>
            <a:endParaRPr lang="en-US" sz="2800" dirty="0">
              <a:ln>
                <a:solidFill>
                  <a:schemeClr val="tx1"/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endParaRPr lang="en-US" sz="2800" dirty="0">
              <a:ln>
                <a:solidFill>
                  <a:schemeClr val="tx1"/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assignment_python6.md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IV.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Turn in data management script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26789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>
                <a:latin typeface="Helvetica Light" panose="020B0403020202020204" pitchFamily="34" charset="0"/>
              </a:rPr>
              <a:t>For this week</a:t>
            </a:r>
          </a:p>
        </p:txBody>
      </p:sp>
    </p:spTree>
    <p:extLst>
      <p:ext uri="{BB962C8B-B14F-4D97-AF65-F5344CB8AC3E}">
        <p14:creationId xmlns:p14="http://schemas.microsoft.com/office/powerpoint/2010/main" val="346931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B163EF-68AB-5F4E-A2C5-4F5C79621C91}"/>
              </a:ext>
            </a:extLst>
          </p:cNvPr>
          <p:cNvSpPr/>
          <p:nvPr/>
        </p:nvSpPr>
        <p:spPr>
          <a:xfrm>
            <a:off x="4024759" y="208918"/>
            <a:ext cx="4142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assignment_python6.md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25274-1D0F-9349-9FA3-30458BDC7C9B}"/>
              </a:ext>
            </a:extLst>
          </p:cNvPr>
          <p:cNvSpPr txBox="1"/>
          <p:nvPr/>
        </p:nvSpPr>
        <p:spPr>
          <a:xfrm>
            <a:off x="656492" y="895399"/>
            <a:ext cx="1116037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</a:t>
            </a:r>
            <a:r>
              <a:rPr lang="en-US" sz="2600" b="1" dirty="0">
                <a:latin typeface="HELVETICA LIGHT" panose="020B0403020202020204" pitchFamily="34" charset="0"/>
              </a:rPr>
              <a:t>Task one: </a:t>
            </a:r>
            <a:r>
              <a:rPr lang="en-US" sz="2600" dirty="0">
                <a:latin typeface="Helvetica Light" panose="020B0403020202020204" pitchFamily="34" charset="0"/>
              </a:rPr>
              <a:t>build a dictionary from real data, use some dictionary functions to do stuff. Learn practical usage to apply generally.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31E3A-039D-0747-B5DB-6230A958D960}"/>
              </a:ext>
            </a:extLst>
          </p:cNvPr>
          <p:cNvSpPr txBox="1"/>
          <p:nvPr/>
        </p:nvSpPr>
        <p:spPr>
          <a:xfrm>
            <a:off x="656492" y="1951212"/>
            <a:ext cx="1116037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2. </a:t>
            </a:r>
            <a:r>
              <a:rPr lang="en-US" sz="2600" b="1" dirty="0">
                <a:latin typeface="HELVETICA LIGHT" panose="020B0403020202020204" pitchFamily="34" charset="0"/>
              </a:rPr>
              <a:t>Bonus: </a:t>
            </a:r>
            <a:r>
              <a:rPr lang="en-US" sz="2600" dirty="0">
                <a:latin typeface="Helvetica Light" panose="020B0403020202020204" pitchFamily="34" charset="0"/>
              </a:rPr>
              <a:t>build a dictionary to count the number of sequences for each individual in </a:t>
            </a:r>
            <a:r>
              <a:rPr lang="en-US" sz="2600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600" dirty="0">
                <a:latin typeface="Helvetica Light" panose="020B0403020202020204" pitchFamily="34" charset="0"/>
              </a:rPr>
              <a:t>. This file has many sequence reads for 192 birds. 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EA4C15CA-E9D9-F64B-9AC5-7DD8A2FF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52" y="3807244"/>
            <a:ext cx="8249627" cy="262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16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3385E2-E0A5-C341-BFD8-DE53EA356B8A}"/>
              </a:ext>
            </a:extLst>
          </p:cNvPr>
          <p:cNvSpPr/>
          <p:nvPr/>
        </p:nvSpPr>
        <p:spPr>
          <a:xfrm>
            <a:off x="212690" y="3285548"/>
            <a:ext cx="117666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Make individual ids as keys in a hash, figure out how to increment values, so that each time you hit the same key, the value goes up by one.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So, once the dictionary is built, you can loop through it and print each unique ID and the number of sequences it has in the file: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solidFill>
                  <a:schemeClr val="accent6"/>
                </a:solidFill>
                <a:latin typeface="Helvetica Light" panose="020B0403020202020204" pitchFamily="34" charset="0"/>
              </a:rPr>
              <a:t>for </a:t>
            </a:r>
            <a:r>
              <a:rPr lang="en-US" sz="2800" dirty="0">
                <a:latin typeface="Helvetica Light" panose="020B0403020202020204" pitchFamily="34" charset="0"/>
              </a:rPr>
              <a:t>id, count </a:t>
            </a:r>
            <a:r>
              <a:rPr lang="en-US" sz="2800" dirty="0">
                <a:solidFill>
                  <a:schemeClr val="accent1"/>
                </a:solidFill>
                <a:latin typeface="Helvetica Light" panose="020B0403020202020204" pitchFamily="34" charset="0"/>
              </a:rPr>
              <a:t>in </a:t>
            </a:r>
            <a:r>
              <a:rPr lang="en-US" sz="2800" dirty="0" err="1">
                <a:latin typeface="Helvetica Light" panose="020B0403020202020204" pitchFamily="34" charset="0"/>
              </a:rPr>
              <a:t>ID_seq.items</a:t>
            </a:r>
            <a:r>
              <a:rPr lang="en-US" sz="2800" dirty="0">
                <a:latin typeface="Helvetica Light" panose="020B0403020202020204" pitchFamily="34" charset="0"/>
              </a:rPr>
              <a:t>():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	</a:t>
            </a:r>
            <a:r>
              <a:rPr lang="en-US" sz="2800" dirty="0">
                <a:solidFill>
                  <a:schemeClr val="accent6"/>
                </a:solidFill>
                <a:latin typeface="Helvetica Light" panose="020B0403020202020204" pitchFamily="34" charset="0"/>
              </a:rPr>
              <a:t>print</a:t>
            </a:r>
            <a:r>
              <a:rPr lang="en-US" sz="2800" dirty="0">
                <a:latin typeface="Helvetica Light" panose="020B0403020202020204" pitchFamily="34" charset="0"/>
              </a:rPr>
              <a:t>(“ID: %s COUNT: %d” % (id, count))</a:t>
            </a: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</a:p>
          <a:p>
            <a:endParaRPr lang="en-US" sz="2400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E3C2F675-68CE-4349-A3BA-C8D198956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61" y="172191"/>
            <a:ext cx="9167447" cy="29221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8E8EEC-A368-6247-9F53-B1F91A14AE70}"/>
              </a:ext>
            </a:extLst>
          </p:cNvPr>
          <p:cNvSpPr/>
          <p:nvPr/>
        </p:nvSpPr>
        <p:spPr>
          <a:xfrm>
            <a:off x="1616531" y="186987"/>
            <a:ext cx="1400070" cy="2375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B0F20-22A8-4446-881F-8F93F1585198}"/>
              </a:ext>
            </a:extLst>
          </p:cNvPr>
          <p:cNvSpPr/>
          <p:nvPr/>
        </p:nvSpPr>
        <p:spPr>
          <a:xfrm>
            <a:off x="1616531" y="1648848"/>
            <a:ext cx="1400070" cy="2375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37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3CFDD-50BC-2B4B-8177-45608F650DD1}"/>
              </a:ext>
            </a:extLst>
          </p:cNvPr>
          <p:cNvSpPr txBox="1"/>
          <p:nvPr/>
        </p:nvSpPr>
        <p:spPr>
          <a:xfrm>
            <a:off x="3363521" y="289503"/>
            <a:ext cx="5464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Semester through November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6D021-662C-0F47-96D3-C40D09A04604}"/>
              </a:ext>
            </a:extLst>
          </p:cNvPr>
          <p:cNvSpPr txBox="1"/>
          <p:nvPr/>
        </p:nvSpPr>
        <p:spPr>
          <a:xfrm>
            <a:off x="451693" y="1444017"/>
            <a:ext cx="117403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10/27, 10/29</a:t>
            </a:r>
            <a:r>
              <a:rPr lang="en-US" sz="2800" dirty="0">
                <a:latin typeface="Helvetica Light" panose="020B0403020202020204" pitchFamily="34" charset="0"/>
              </a:rPr>
              <a:t>:		Reading many files at one, data 							management problem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11/5, 11/7</a:t>
            </a:r>
            <a:r>
              <a:rPr lang="en-US" sz="2800" dirty="0">
                <a:latin typeface="Helvetica Light" panose="020B0403020202020204" pitchFamily="34" charset="0"/>
              </a:rPr>
              <a:t>		</a:t>
            </a:r>
            <a:r>
              <a:rPr lang="en-US" sz="2800" b="1" dirty="0">
                <a:latin typeface="Helvetica Light" panose="020B0403020202020204" pitchFamily="34" charset="0"/>
              </a:rPr>
              <a:t>Dictionaries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11/12, 11/14		</a:t>
            </a:r>
            <a:r>
              <a:rPr lang="en-US" sz="2600" b="1" dirty="0" err="1">
                <a:latin typeface="Helvetica Light" panose="020B0403020202020204" pitchFamily="34" charset="0"/>
              </a:rPr>
              <a:t>Numpy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and</a:t>
            </a:r>
            <a:r>
              <a:rPr lang="en-US" sz="2600" b="1" dirty="0">
                <a:latin typeface="Helvetica Light" panose="020B0403020202020204" pitchFamily="34" charset="0"/>
              </a:rPr>
              <a:t> Pandas: </a:t>
            </a:r>
            <a:r>
              <a:rPr lang="en-US" sz="2600" dirty="0">
                <a:latin typeface="Helvetica Light" panose="020B0403020202020204" pitchFamily="34" charset="0"/>
              </a:rPr>
              <a:t>Data Science modules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Helvetica Light" panose="020B0403020202020204" pitchFamily="34" charset="0"/>
              </a:rPr>
              <a:t>Week of </a:t>
            </a:r>
            <a:r>
              <a:rPr lang="en-US" sz="2800" b="1" dirty="0">
                <a:latin typeface="Helvetica Light" panose="020B0403020202020204" pitchFamily="34" charset="0"/>
              </a:rPr>
              <a:t>11/19, 11/21		</a:t>
            </a:r>
            <a:r>
              <a:rPr lang="en-US" sz="2800" dirty="0">
                <a:latin typeface="Helvetica Light" panose="020B0403020202020204" pitchFamily="34" charset="0"/>
              </a:rPr>
              <a:t>more</a:t>
            </a:r>
            <a:r>
              <a:rPr lang="en-US" sz="2800" b="1" dirty="0">
                <a:latin typeface="Helvetica Light" panose="020B0403020202020204" pitchFamily="34" charset="0"/>
              </a:rPr>
              <a:t> Pandas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Week of 11/26			open day, independent project work</a:t>
            </a:r>
          </a:p>
        </p:txBody>
      </p:sp>
    </p:spTree>
    <p:extLst>
      <p:ext uri="{BB962C8B-B14F-4D97-AF65-F5344CB8AC3E}">
        <p14:creationId xmlns:p14="http://schemas.microsoft.com/office/powerpoint/2010/main" val="277243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49740</TotalTime>
  <Words>1299</Words>
  <Application>Microsoft Macintosh PowerPoint</Application>
  <PresentationFormat>Widescreen</PresentationFormat>
  <Paragraphs>183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147</cp:revision>
  <cp:lastPrinted>2020-10-13T03:08:35Z</cp:lastPrinted>
  <dcterms:created xsi:type="dcterms:W3CDTF">2020-10-06T23:54:18Z</dcterms:created>
  <dcterms:modified xsi:type="dcterms:W3CDTF">2025-11-19T00:36:06Z</dcterms:modified>
</cp:coreProperties>
</file>