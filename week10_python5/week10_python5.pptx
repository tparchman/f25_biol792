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323" r:id="rId2"/>
    <p:sldId id="324" r:id="rId3"/>
    <p:sldId id="325" r:id="rId4"/>
    <p:sldId id="342" r:id="rId5"/>
    <p:sldId id="347" r:id="rId6"/>
    <p:sldId id="327" r:id="rId7"/>
    <p:sldId id="352" r:id="rId8"/>
    <p:sldId id="360" r:id="rId9"/>
    <p:sldId id="353" r:id="rId10"/>
    <p:sldId id="354" r:id="rId11"/>
    <p:sldId id="350" r:id="rId12"/>
    <p:sldId id="348" r:id="rId13"/>
    <p:sldId id="341" r:id="rId14"/>
    <p:sldId id="355" r:id="rId15"/>
    <p:sldId id="356" r:id="rId16"/>
    <p:sldId id="357" r:id="rId17"/>
    <p:sldId id="358" r:id="rId18"/>
    <p:sldId id="334" r:id="rId19"/>
    <p:sldId id="3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96"/>
    <p:restoredTop sz="94618"/>
  </p:normalViewPr>
  <p:slideViewPr>
    <p:cSldViewPr snapToGrid="0" snapToObjects="1">
      <p:cViewPr varScale="1">
        <p:scale>
          <a:sx n="124" d="100"/>
          <a:sy n="124" d="100"/>
        </p:scale>
        <p:origin x="18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39141-2DAA-2346-BEF0-0594A5BB306A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7DD47-6C2A-9C46-B9F9-428C206BB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9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0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621DE-03A3-E54C-A74D-FE203D0BD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1B9C7-93C9-374A-B3AB-C07B1EE17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8E19D-4F5B-3C4C-BDAF-0592A676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9C701-4A70-1A40-970F-02BE6AD6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526A3-30BB-C740-968F-2E2DAB11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5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9846-59EA-3B49-A3C2-B5BA1823C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ACC2C-E7FC-0A42-A4C8-3D172383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99FE-E502-F649-8F37-2AC7A8C0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63BF-EBA6-4E4B-BB05-0B3F186B1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6B799-D0C8-FF43-995B-48135668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06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57A2-0D2F-8F40-8056-04962D4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58863B-6E4B-3D41-8470-596A9E094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22CFF-CE7B-524B-8E69-60F3B7CCC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136BF-1D81-AE4F-A439-D2B1818B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97E8-BA06-9243-B81F-BA64337A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4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D572-CAFB-7B46-9420-AC8BF80B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9A1A-A728-864C-AA52-83FA88377E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E33BA-19E5-2342-9F96-080D0AA08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F5ED7-429A-9946-AB52-E211B788D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5AD3F6-A938-4F49-974E-91686AAA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B995A-B33C-D644-A9D8-9D97D6371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01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56971-CE78-A449-9940-B9E36879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7982A-F3AC-1F42-A44F-4F93AB52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05767-0A75-F744-83EB-2ABBB8A16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93F0C-DA55-A94A-8566-A571D10C4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1093C-2DB3-3A45-8464-632F7B3F10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4FAE-A407-0841-8837-AB815FB59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8BEF6-796E-FF40-92C3-5826F635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16A67-9957-1F43-A86B-7FA50139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77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F2F0-C1EF-5645-B1C3-C17ECABDD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75209-2143-3640-8A88-561C8469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2C63C6-2505-514C-8311-2A7D16E80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8A312-BACD-1E41-932F-739245B7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8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907468-FDDF-B74F-9618-397A8E3EB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D9030-BE3A-2443-AD24-BF914E568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7961C-67F4-F240-8934-46104F14B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43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D1FE-4AF3-794F-9755-4048A1DB9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D9062-15D5-A14F-9678-9564DF000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5F60B-631E-DA46-BC49-0343C1F0F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38A21-49D0-F841-937D-307631B82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15CD6-3FA4-8C4C-826E-6B07C924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443E6-1A72-B049-9128-F1008D5D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3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E449-A316-9441-82B6-DC39CC279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AAB58-E781-1342-AF4C-9D8F211B6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D7E1A-2DDA-CE48-BE06-C7790C3D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F6C5B-AF09-A145-8C61-DC4C7E24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7E5D7-0495-0A4F-A34D-C44ADCCA7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3474D-6D93-174E-B74D-12D3313F2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1156-CF4C-2648-A1D0-8B698DD4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024C8-FFC9-1C47-B617-FA17E83808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595B8-B863-3C4E-AB10-3C2E5CE2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443F-38C3-794B-8D71-04596D2F9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EAE92-CCC1-E34A-A93B-284F936B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1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8E63E-F6D2-1C4D-8646-75D45F92F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819F8-41DD-AC4F-BAEE-B5B45B9AE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F5548-83E8-764A-A5F8-B48CC3AE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19F3F-015A-DA40-9269-8338888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58FFB-9298-D042-9130-761F5AA4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DA5A23-30DE-1A4B-ABDC-C5E043E3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F016E-611A-104C-8387-1E8E084E7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F95FD-F653-2048-BD10-AD4E1E6DC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9884C-D6B0-574D-ABEB-4B3275C742BC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CE9C-1107-1943-AE2F-BC977CEAD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46A9D-FA12-4344-8EA0-191646275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6C0C3-5FC9-C84C-A6CB-AC7829EDC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3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636285" y="1250762"/>
            <a:ext cx="833593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Working with large numbers of files: input/output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More on lists, loops, regular expressions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A real data management problem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183255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Week 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88A66A-0419-DE4E-B4C6-7E8E39AE4222}"/>
              </a:ext>
            </a:extLst>
          </p:cNvPr>
          <p:cNvSpPr txBox="1"/>
          <p:nvPr/>
        </p:nvSpPr>
        <p:spPr>
          <a:xfrm>
            <a:off x="1636285" y="5583051"/>
            <a:ext cx="882988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python_5_primer.md, assignment_python5.md</a:t>
            </a:r>
          </a:p>
        </p:txBody>
      </p:sp>
    </p:spTree>
    <p:extLst>
      <p:ext uri="{BB962C8B-B14F-4D97-AF65-F5344CB8AC3E}">
        <p14:creationId xmlns:p14="http://schemas.microsoft.com/office/powerpoint/2010/main" val="337376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473826" y="132676"/>
            <a:ext cx="841127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Helvetica Light" panose="020B0403020202020204" pitchFamily="34" charset="0"/>
              </a:rPr>
              <a:t>Practice script from assignment_python4.md #1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2751A-CD99-C848-B772-1B4B8F0F09D4}"/>
              </a:ext>
            </a:extLst>
          </p:cNvPr>
          <p:cNvSpPr/>
          <p:nvPr/>
        </p:nvSpPr>
        <p:spPr>
          <a:xfrm>
            <a:off x="306185" y="796814"/>
            <a:ext cx="11579629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##Initialize variables here, not shown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if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("^&gt;", Line):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("[ATCGN]", Line):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Eco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("GAATTC", Line))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("TTAA", Line))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("AAGCTT", Line))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Eco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print("Total Number of Sequences: %d,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EcoRI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cut sites: %d,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MseI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cut sites: %d,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HindIII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cut sites: %d" % 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TEco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TMse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5693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272758" y="0"/>
            <a:ext cx="732604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Practice script from assignment_python3.md #2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4242A6-C6F9-F64C-BCB0-666B2295D8DC}"/>
              </a:ext>
            </a:extLst>
          </p:cNvPr>
          <p:cNvSpPr txBox="1"/>
          <p:nvPr/>
        </p:nvSpPr>
        <p:spPr>
          <a:xfrm>
            <a:off x="209807" y="604132"/>
            <a:ext cx="11876897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 = open(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[1])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OUT = open("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SSR_out.txt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", 'w')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Line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Line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IN.readline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Seq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Seq.strip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("AT{6,}", Seq) or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("ATC{6,} ", Seq) or </a:t>
            </a:r>
            <a:r>
              <a:rPr lang="en-US" sz="16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1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("GA{6,}", Seq):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("%s Contains SSR: \n %s \n" %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Seq))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AT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("AT{6,}", Seq))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ATC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("ATC{6,}", Seq))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GA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re.findall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("GA{6,}", Seq))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TAT += AT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TATC += ATC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		TGA += GA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print("File has %d AT SSRs, %d ATC SSRs and, and %d GA SSRs \n" % (TAT, TATC, TGA))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		</a:t>
            </a:r>
          </a:p>
          <a:p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OUT.close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34142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23610-0C33-6640-B8EE-C729216B0AB1}"/>
              </a:ext>
            </a:extLst>
          </p:cNvPr>
          <p:cNvSpPr txBox="1"/>
          <p:nvPr/>
        </p:nvSpPr>
        <p:spPr>
          <a:xfrm>
            <a:off x="4144183" y="216009"/>
            <a:ext cx="390363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Initializing variables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A6031A-1F47-1741-A772-CADB9AA79920}"/>
              </a:ext>
            </a:extLst>
          </p:cNvPr>
          <p:cNvSpPr txBox="1"/>
          <p:nvPr/>
        </p:nvSpPr>
        <p:spPr>
          <a:xfrm>
            <a:off x="797559" y="1159104"/>
            <a:ext cx="11293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that need to exist outside and within loops need to be </a:t>
            </a:r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initialized</a:t>
            </a:r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 outside of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C21DE9-0EB1-154C-8376-B83768195ED7}"/>
              </a:ext>
            </a:extLst>
          </p:cNvPr>
          <p:cNvSpPr/>
          <p:nvPr/>
        </p:nvSpPr>
        <p:spPr>
          <a:xfrm>
            <a:off x="4794268" y="2456142"/>
            <a:ext cx="6051212" cy="28931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TAT = 0</a:t>
            </a:r>
          </a:p>
          <a:p>
            <a:endParaRPr lang="en-US" sz="26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List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(“,“)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TAT += List[1]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SeqNo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DB8783-3ABF-1F4C-976B-61A869F43637}"/>
              </a:ext>
            </a:extLst>
          </p:cNvPr>
          <p:cNvSpPr txBox="1"/>
          <p:nvPr/>
        </p:nvSpPr>
        <p:spPr>
          <a:xfrm>
            <a:off x="696829" y="5848334"/>
            <a:ext cx="11293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  <a:cs typeface="Courier New" panose="02070309020205020404" pitchFamily="49" charset="0"/>
              </a:rPr>
              <a:t>Variables assigned within the loop live and die within the loop</a:t>
            </a:r>
            <a:endParaRPr lang="en-US" sz="2800" dirty="0">
              <a:latin typeface="Helvetica Light" panose="020B0403020202020204" pitchFamily="34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1D7742-3551-144C-97F1-E897491D0D9C}"/>
              </a:ext>
            </a:extLst>
          </p:cNvPr>
          <p:cNvCxnSpPr>
            <a:cxnSpLocks/>
          </p:cNvCxnSpPr>
          <p:nvPr/>
        </p:nvCxnSpPr>
        <p:spPr>
          <a:xfrm>
            <a:off x="3739243" y="3671906"/>
            <a:ext cx="1897628" cy="610728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3B0879B-E4CA-BE48-98D9-2D55B5806A5F}"/>
              </a:ext>
            </a:extLst>
          </p:cNvPr>
          <p:cNvSpPr txBox="1"/>
          <p:nvPr/>
        </p:nvSpPr>
        <p:spPr>
          <a:xfrm>
            <a:off x="2095638" y="2716532"/>
            <a:ext cx="16436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Created new each time through loop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1B988D-2C41-1141-8685-1B4536E8926D}"/>
              </a:ext>
            </a:extLst>
          </p:cNvPr>
          <p:cNvCxnSpPr>
            <a:cxnSpLocks/>
          </p:cNvCxnSpPr>
          <p:nvPr/>
        </p:nvCxnSpPr>
        <p:spPr>
          <a:xfrm>
            <a:off x="3739243" y="4930929"/>
            <a:ext cx="1897628" cy="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C534085-C573-D344-B452-3CC7EEDA747C}"/>
              </a:ext>
            </a:extLst>
          </p:cNvPr>
          <p:cNvSpPr txBox="1"/>
          <p:nvPr/>
        </p:nvSpPr>
        <p:spPr>
          <a:xfrm>
            <a:off x="1568125" y="4423097"/>
            <a:ext cx="2775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Initialized outside, grows each time through</a:t>
            </a:r>
          </a:p>
        </p:txBody>
      </p:sp>
    </p:spTree>
    <p:extLst>
      <p:ext uri="{BB962C8B-B14F-4D97-AF65-F5344CB8AC3E}">
        <p14:creationId xmlns:p14="http://schemas.microsoft.com/office/powerpoint/2010/main" val="231855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09E8DB-E969-3D4B-8DB3-0990A967B5CA}"/>
              </a:ext>
            </a:extLst>
          </p:cNvPr>
          <p:cNvSpPr txBox="1"/>
          <p:nvPr/>
        </p:nvSpPr>
        <p:spPr>
          <a:xfrm>
            <a:off x="2818837" y="265815"/>
            <a:ext cx="6582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Input/Output: many files at once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455498-6E99-ED41-8856-B4681B19B40C}"/>
              </a:ext>
            </a:extLst>
          </p:cNvPr>
          <p:cNvSpPr txBox="1"/>
          <p:nvPr/>
        </p:nvSpPr>
        <p:spPr>
          <a:xfrm>
            <a:off x="793304" y="1507181"/>
            <a:ext cx="1111052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600" dirty="0">
                <a:latin typeface="Helvetica Light" panose="020B0403020202020204" pitchFamily="34" charset="0"/>
              </a:rPr>
              <a:t>It is often necessary or useful to have the same code executed for many files at once</a:t>
            </a:r>
          </a:p>
          <a:p>
            <a:pPr marL="457200" indent="-45720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FontTx/>
              <a:buChar char="-"/>
            </a:pPr>
            <a:r>
              <a:rPr lang="en-US" sz="2600" b="1" dirty="0" err="1">
                <a:latin typeface="Helvetica Light" panose="020B0403020202020204" pitchFamily="34" charset="0"/>
              </a:rPr>
              <a:t>sys.argv</a:t>
            </a:r>
            <a:r>
              <a:rPr lang="en-US" sz="2600" b="1" dirty="0">
                <a:latin typeface="Helvetica Light" panose="020B0403020202020204" pitchFamily="34" charset="0"/>
              </a:rPr>
              <a:t>[] </a:t>
            </a:r>
            <a:r>
              <a:rPr lang="en-US" sz="2600" dirty="0">
                <a:latin typeface="Helvetica Light" panose="020B0403020202020204" pitchFamily="34" charset="0"/>
              </a:rPr>
              <a:t>is a list of what comes from the command line when you execute your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AA86B8-0668-E249-96D3-CB87925587BF}"/>
              </a:ext>
            </a:extLst>
          </p:cNvPr>
          <p:cNvSpPr txBox="1"/>
          <p:nvPr/>
        </p:nvSpPr>
        <p:spPr>
          <a:xfrm>
            <a:off x="685238" y="4377843"/>
            <a:ext cx="1111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logger.py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file1.txt file2.txt file3.txt .. file100.txt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1016C8-9300-C845-882A-AFF356BBD240}"/>
              </a:ext>
            </a:extLst>
          </p:cNvPr>
          <p:cNvCxnSpPr/>
          <p:nvPr/>
        </p:nvCxnSpPr>
        <p:spPr>
          <a:xfrm flipV="1">
            <a:off x="2917767" y="4865630"/>
            <a:ext cx="332509" cy="47956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0F1D29E-4AA2-9540-BCAB-B8CC228D384C}"/>
              </a:ext>
            </a:extLst>
          </p:cNvPr>
          <p:cNvCxnSpPr/>
          <p:nvPr/>
        </p:nvCxnSpPr>
        <p:spPr>
          <a:xfrm flipV="1">
            <a:off x="4438358" y="4871257"/>
            <a:ext cx="332509" cy="47956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C8678E-B8F5-A245-9835-1EA197CFBD35}"/>
              </a:ext>
            </a:extLst>
          </p:cNvPr>
          <p:cNvCxnSpPr/>
          <p:nvPr/>
        </p:nvCxnSpPr>
        <p:spPr>
          <a:xfrm flipV="1">
            <a:off x="6125203" y="4902436"/>
            <a:ext cx="332509" cy="47956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C44FA57-8A94-8F4E-8A8E-507CE583A4AA}"/>
              </a:ext>
            </a:extLst>
          </p:cNvPr>
          <p:cNvCxnSpPr/>
          <p:nvPr/>
        </p:nvCxnSpPr>
        <p:spPr>
          <a:xfrm flipV="1">
            <a:off x="7778797" y="4902436"/>
            <a:ext cx="332509" cy="47956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FA17A3-D968-6840-BAAD-983C338AE004}"/>
              </a:ext>
            </a:extLst>
          </p:cNvPr>
          <p:cNvCxnSpPr/>
          <p:nvPr/>
        </p:nvCxnSpPr>
        <p:spPr>
          <a:xfrm flipV="1">
            <a:off x="10069484" y="4902435"/>
            <a:ext cx="332509" cy="47956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C6077E-3A93-944B-877D-D59DF5FFBC2A}"/>
              </a:ext>
            </a:extLst>
          </p:cNvPr>
          <p:cNvSpPr txBox="1"/>
          <p:nvPr/>
        </p:nvSpPr>
        <p:spPr>
          <a:xfrm>
            <a:off x="2121118" y="5345191"/>
            <a:ext cx="1465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sys.argv</a:t>
            </a:r>
            <a:r>
              <a:rPr lang="en-US" sz="2000" dirty="0">
                <a:latin typeface="Helvetica Light" panose="020B0403020202020204" pitchFamily="34" charset="0"/>
              </a:rPr>
              <a:t>[0]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9B719-347C-3A49-A1B8-408D68698617}"/>
              </a:ext>
            </a:extLst>
          </p:cNvPr>
          <p:cNvSpPr txBox="1"/>
          <p:nvPr/>
        </p:nvSpPr>
        <p:spPr>
          <a:xfrm>
            <a:off x="3680471" y="5333119"/>
            <a:ext cx="1465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sys.argv</a:t>
            </a:r>
            <a:r>
              <a:rPr lang="en-US" sz="2000" dirty="0">
                <a:latin typeface="Helvetica Light" panose="020B0403020202020204" pitchFamily="34" charset="0"/>
              </a:rPr>
              <a:t>[1]</a:t>
            </a:r>
            <a:endParaRPr lang="en-US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49333B-185A-3544-A862-E5410705FFC4}"/>
              </a:ext>
            </a:extLst>
          </p:cNvPr>
          <p:cNvSpPr txBox="1"/>
          <p:nvPr/>
        </p:nvSpPr>
        <p:spPr>
          <a:xfrm>
            <a:off x="5396582" y="5348852"/>
            <a:ext cx="1465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sys.argv</a:t>
            </a:r>
            <a:r>
              <a:rPr lang="en-US" sz="2000" dirty="0">
                <a:latin typeface="Helvetica Light" panose="020B0403020202020204" pitchFamily="34" charset="0"/>
              </a:rPr>
              <a:t>[2]</a:t>
            </a:r>
            <a:endParaRPr lang="en-US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083FE3-B93E-CC40-B738-0E3AD3909233}"/>
              </a:ext>
            </a:extLst>
          </p:cNvPr>
          <p:cNvSpPr txBox="1"/>
          <p:nvPr/>
        </p:nvSpPr>
        <p:spPr>
          <a:xfrm>
            <a:off x="7124415" y="5345093"/>
            <a:ext cx="1465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sys.argv</a:t>
            </a:r>
            <a:r>
              <a:rPr lang="en-US" sz="2000" dirty="0">
                <a:latin typeface="Helvetica Light" panose="020B0403020202020204" pitchFamily="34" charset="0"/>
              </a:rPr>
              <a:t>[3]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2E3C0-97D5-7446-9F27-6D1BC5695478}"/>
              </a:ext>
            </a:extLst>
          </p:cNvPr>
          <p:cNvSpPr txBox="1"/>
          <p:nvPr/>
        </p:nvSpPr>
        <p:spPr>
          <a:xfrm>
            <a:off x="9401088" y="5381694"/>
            <a:ext cx="17508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Helvetica Light" panose="020B0403020202020204" pitchFamily="34" charset="0"/>
              </a:rPr>
              <a:t>sys.argv</a:t>
            </a:r>
            <a:r>
              <a:rPr lang="en-US" sz="2000" dirty="0">
                <a:latin typeface="Helvetica Light" panose="020B0403020202020204" pitchFamily="34" charset="0"/>
              </a:rPr>
              <a:t>[100]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8748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2818837" y="265815"/>
            <a:ext cx="6582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Input/Output: many files at once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D4D352-6EF7-5643-B3D7-C80E5C2E08FB}"/>
              </a:ext>
            </a:extLst>
          </p:cNvPr>
          <p:cNvSpPr txBox="1"/>
          <p:nvPr/>
        </p:nvSpPr>
        <p:spPr>
          <a:xfrm>
            <a:off x="651986" y="2998113"/>
            <a:ext cx="1111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$ python3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logger.py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file1.txt file2.txt file3.txt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768365" y="3784433"/>
            <a:ext cx="6663213" cy="156966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sys 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[1:]: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print(file)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881E68-C7E0-0F44-909E-007DE2D47C63}"/>
              </a:ext>
            </a:extLst>
          </p:cNvPr>
          <p:cNvSpPr txBox="1"/>
          <p:nvPr/>
        </p:nvSpPr>
        <p:spPr>
          <a:xfrm>
            <a:off x="768365" y="1394238"/>
            <a:ext cx="111105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[1-100] </a:t>
            </a:r>
            <a:r>
              <a:rPr lang="en-US" sz="2200" dirty="0">
                <a:latin typeface="Helvetica Light" panose="020B0403020202020204" pitchFamily="34" charset="0"/>
                <a:cs typeface="Courier New" panose="02070309020205020404" pitchFamily="49" charset="0"/>
              </a:rPr>
              <a:t>would be a list of 100 file arguments. This can more flexibly be written as 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[1:], </a:t>
            </a:r>
            <a:r>
              <a:rPr lang="en-US" sz="2200" dirty="0">
                <a:latin typeface="Helvetica Light" panose="020B0403020202020204" pitchFamily="34" charset="0"/>
                <a:cs typeface="Courier New" panose="02070309020205020404" pitchFamily="49" charset="0"/>
              </a:rPr>
              <a:t>which would mean a list from the 1 element to the last element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A468B-0026-7F4A-8F90-FEB867D1F122}"/>
              </a:ext>
            </a:extLst>
          </p:cNvPr>
          <p:cNvSpPr txBox="1"/>
          <p:nvPr/>
        </p:nvSpPr>
        <p:spPr>
          <a:xfrm>
            <a:off x="540739" y="5769023"/>
            <a:ext cx="111105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Helvetica Light" panose="020B0403020202020204" pitchFamily="34" charset="0"/>
                <a:cs typeface="Courier New" panose="02070309020205020404" pitchFamily="49" charset="0"/>
              </a:rPr>
              <a:t>Should print: 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file1.txt file2.txt file3.txt</a:t>
            </a:r>
          </a:p>
        </p:txBody>
      </p:sp>
    </p:spTree>
    <p:extLst>
      <p:ext uri="{BB962C8B-B14F-4D97-AF65-F5344CB8AC3E}">
        <p14:creationId xmlns:p14="http://schemas.microsoft.com/office/powerpoint/2010/main" val="396698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2818837" y="265815"/>
            <a:ext cx="6582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Input/Output: many files at once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934619" y="1797691"/>
            <a:ext cx="6663213" cy="30469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sys 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[1:]: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IN=open(file, 'r')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Line in IN: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Line=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print(Line)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054083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B8EDF3-3E53-5D90-B18B-E8847B407DD9}"/>
              </a:ext>
            </a:extLst>
          </p:cNvPr>
          <p:cNvSpPr txBox="1"/>
          <p:nvPr/>
        </p:nvSpPr>
        <p:spPr>
          <a:xfrm>
            <a:off x="2818837" y="265815"/>
            <a:ext cx="658225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I. </a:t>
            </a:r>
            <a:r>
              <a:rPr lang="en-US" sz="3300" dirty="0">
                <a:latin typeface="Helvetica Light" panose="020B0403020202020204" pitchFamily="34" charset="0"/>
              </a:rPr>
              <a:t>Input/Output: many files at once</a:t>
            </a:r>
            <a:endParaRPr lang="en-US" sz="3300" b="1" dirty="0">
              <a:latin typeface="Helvetica Light" panose="020B04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EC431-531E-8812-1D21-06FCA2B3D584}"/>
              </a:ext>
            </a:extLst>
          </p:cNvPr>
          <p:cNvSpPr txBox="1"/>
          <p:nvPr/>
        </p:nvSpPr>
        <p:spPr>
          <a:xfrm>
            <a:off x="934619" y="1797691"/>
            <a:ext cx="6663213" cy="341632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glob 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FileList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glob.glob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("*.txt")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FileList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IN=open(file, 'r')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Data in IN: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Data=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Data.strip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print(Data)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9FA399-5A4D-9A5D-38D0-BD62E6F48488}"/>
              </a:ext>
            </a:extLst>
          </p:cNvPr>
          <p:cNvSpPr txBox="1"/>
          <p:nvPr/>
        </p:nvSpPr>
        <p:spPr>
          <a:xfrm>
            <a:off x="2818837" y="768628"/>
            <a:ext cx="6521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>
                <a:latin typeface="Helvetica Light" panose="020B0403020202020204" pitchFamily="34" charset="0"/>
              </a:rPr>
              <a:t>Jupyter</a:t>
            </a:r>
            <a:r>
              <a:rPr lang="en-US" sz="2800" b="1" dirty="0">
                <a:latin typeface="Helvetica Light" panose="020B0403020202020204" pitchFamily="34" charset="0"/>
              </a:rPr>
              <a:t> notebook solution – glob library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21C054-0DC8-2028-37CD-BD2EF259C063}"/>
              </a:ext>
            </a:extLst>
          </p:cNvPr>
          <p:cNvCxnSpPr/>
          <p:nvPr/>
        </p:nvCxnSpPr>
        <p:spPr>
          <a:xfrm flipH="1">
            <a:off x="6517758" y="2668772"/>
            <a:ext cx="2103120" cy="8506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5003D6B-4151-8862-B329-C1E4D8A23430}"/>
              </a:ext>
            </a:extLst>
          </p:cNvPr>
          <p:cNvSpPr txBox="1"/>
          <p:nvPr/>
        </p:nvSpPr>
        <p:spPr>
          <a:xfrm>
            <a:off x="8620878" y="1883942"/>
            <a:ext cx="33494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Each file in current directory ending in </a:t>
            </a:r>
            <a:r>
              <a:rPr lang="en-US" sz="2400" b="1" dirty="0">
                <a:latin typeface="HELVETICA LIGHT" panose="020B0403020202020204" pitchFamily="34" charset="0"/>
              </a:rPr>
              <a:t>.txt </a:t>
            </a:r>
            <a:r>
              <a:rPr lang="en-US" sz="2400" dirty="0">
                <a:latin typeface="Helvetica Light" panose="020B0403020202020204" pitchFamily="34" charset="0"/>
              </a:rPr>
              <a:t>will go into a list, </a:t>
            </a:r>
            <a:r>
              <a:rPr lang="en-US" sz="2400" b="1" dirty="0" err="1">
                <a:latin typeface="HELVETICA LIGHT" panose="020B0403020202020204" pitchFamily="34" charset="0"/>
              </a:rPr>
              <a:t>FileList</a:t>
            </a:r>
            <a:endParaRPr lang="en-US" sz="24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338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1939606" y="183141"/>
            <a:ext cx="687399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READ many</a:t>
            </a:r>
            <a:r>
              <a:rPr lang="en-US" sz="3300" dirty="0">
                <a:latin typeface="Helvetica Light" panose="020B0403020202020204" pitchFamily="34" charset="0"/>
              </a:rPr>
              <a:t> files</a:t>
            </a:r>
            <a:r>
              <a:rPr lang="en-US" sz="3300" b="1" dirty="0">
                <a:latin typeface="Helvetica Light" panose="020B0403020202020204" pitchFamily="34" charset="0"/>
              </a:rPr>
              <a:t>, WRITE many</a:t>
            </a:r>
            <a:r>
              <a:rPr lang="en-US" sz="3300" dirty="0">
                <a:latin typeface="Helvetica Light" panose="020B0403020202020204" pitchFamily="34" charset="0"/>
              </a:rPr>
              <a:t>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868117" y="1697938"/>
            <a:ext cx="6663213" cy="36933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FileList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IN=open(file, 'r')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OUT=open("out"+ file, 'w')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Line=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 + "\n")	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OUT.close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4F713D-785F-F343-82C7-9C2D38BBC75A}"/>
              </a:ext>
            </a:extLst>
          </p:cNvPr>
          <p:cNvCxnSpPr>
            <a:cxnSpLocks/>
          </p:cNvCxnSpPr>
          <p:nvPr/>
        </p:nvCxnSpPr>
        <p:spPr>
          <a:xfrm flipH="1">
            <a:off x="6096000" y="1554480"/>
            <a:ext cx="1626524" cy="401152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347205-0F15-AD49-9EB6-A643C8ADE0DF}"/>
              </a:ext>
            </a:extLst>
          </p:cNvPr>
          <p:cNvSpPr txBox="1"/>
          <p:nvPr/>
        </p:nvSpPr>
        <p:spPr>
          <a:xfrm>
            <a:off x="7777942" y="865979"/>
            <a:ext cx="307848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Looping through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sys.argv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, from 1 to 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5E0DE3-0ADE-0744-9CC0-BF0AD01D2F99}"/>
              </a:ext>
            </a:extLst>
          </p:cNvPr>
          <p:cNvCxnSpPr>
            <a:cxnSpLocks/>
          </p:cNvCxnSpPr>
          <p:nvPr/>
        </p:nvCxnSpPr>
        <p:spPr>
          <a:xfrm flipH="1">
            <a:off x="5938057" y="2244436"/>
            <a:ext cx="1676401" cy="13877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34B6-7ED2-0F43-882A-2FECA6E22D04}"/>
              </a:ext>
            </a:extLst>
          </p:cNvPr>
          <p:cNvSpPr txBox="1"/>
          <p:nvPr/>
        </p:nvSpPr>
        <p:spPr>
          <a:xfrm>
            <a:off x="7722524" y="2020140"/>
            <a:ext cx="3078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Open to read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95DFA-B9BD-B749-961A-C71DA67BA133}"/>
              </a:ext>
            </a:extLst>
          </p:cNvPr>
          <p:cNvSpPr txBox="1"/>
          <p:nvPr/>
        </p:nvSpPr>
        <p:spPr>
          <a:xfrm>
            <a:off x="7722522" y="2515535"/>
            <a:ext cx="4239491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Open to write, naming files. Done w/in for loop processing files.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86CAE8-3619-1D46-BB32-38B7B7CEEC67}"/>
              </a:ext>
            </a:extLst>
          </p:cNvPr>
          <p:cNvCxnSpPr>
            <a:cxnSpLocks/>
          </p:cNvCxnSpPr>
          <p:nvPr/>
        </p:nvCxnSpPr>
        <p:spPr>
          <a:xfrm flipH="1">
            <a:off x="7096297" y="2726807"/>
            <a:ext cx="626226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28C17A-CA36-5E4A-BCCE-13536A2C5BD8}"/>
              </a:ext>
            </a:extLst>
          </p:cNvPr>
          <p:cNvSpPr txBox="1"/>
          <p:nvPr/>
        </p:nvSpPr>
        <p:spPr>
          <a:xfrm>
            <a:off x="7614457" y="4508417"/>
            <a:ext cx="423949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Close IN each time through loop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B8F397-E6DE-384D-B81C-8049217E834F}"/>
              </a:ext>
            </a:extLst>
          </p:cNvPr>
          <p:cNvSpPr txBox="1"/>
          <p:nvPr/>
        </p:nvSpPr>
        <p:spPr>
          <a:xfrm>
            <a:off x="7614457" y="4960370"/>
            <a:ext cx="4577543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Close OUT each time through loop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E530A-D716-A342-8EAD-7E163DAAFC0C}"/>
              </a:ext>
            </a:extLst>
          </p:cNvPr>
          <p:cNvCxnSpPr>
            <a:cxnSpLocks/>
            <a:stCxn id="16" idx="1"/>
          </p:cNvCxnSpPr>
          <p:nvPr/>
        </p:nvCxnSpPr>
        <p:spPr>
          <a:xfrm flipH="1">
            <a:off x="5029201" y="4723861"/>
            <a:ext cx="2585256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90A3C6-603A-0544-911E-DC6BDD13374A}"/>
              </a:ext>
            </a:extLst>
          </p:cNvPr>
          <p:cNvCxnSpPr>
            <a:cxnSpLocks/>
          </p:cNvCxnSpPr>
          <p:nvPr/>
        </p:nvCxnSpPr>
        <p:spPr>
          <a:xfrm flipH="1">
            <a:off x="5029201" y="5175813"/>
            <a:ext cx="2585256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99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745F42-9B20-5C48-A829-0D247AA1A0CE}"/>
              </a:ext>
            </a:extLst>
          </p:cNvPr>
          <p:cNvSpPr txBox="1"/>
          <p:nvPr/>
        </p:nvSpPr>
        <p:spPr>
          <a:xfrm>
            <a:off x="2379769" y="308978"/>
            <a:ext cx="680346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READ many</a:t>
            </a:r>
            <a:r>
              <a:rPr lang="en-US" sz="3300" dirty="0">
                <a:latin typeface="Helvetica Light" panose="020B0403020202020204" pitchFamily="34" charset="0"/>
              </a:rPr>
              <a:t> files</a:t>
            </a:r>
            <a:r>
              <a:rPr lang="en-US" sz="3300" b="1" dirty="0">
                <a:latin typeface="Helvetica Light" panose="020B0403020202020204" pitchFamily="34" charset="0"/>
              </a:rPr>
              <a:t>, WRITE </a:t>
            </a:r>
            <a:r>
              <a:rPr lang="en-US" sz="3300" dirty="0">
                <a:latin typeface="Helvetica Light" panose="020B0403020202020204" pitchFamily="34" charset="0"/>
              </a:rPr>
              <a:t>to </a:t>
            </a:r>
            <a:r>
              <a:rPr lang="en-US" sz="3300" b="1" dirty="0">
                <a:latin typeface="Helvetica Light" panose="020B0403020202020204" pitchFamily="34" charset="0"/>
              </a:rPr>
              <a:t>one</a:t>
            </a:r>
            <a:r>
              <a:rPr lang="en-US" sz="3300" dirty="0">
                <a:latin typeface="Helvetica Light" panose="020B0403020202020204" pitchFamily="34" charset="0"/>
              </a:rPr>
              <a:t>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C184F0-D91E-C848-BBE4-198CA9707B6E}"/>
              </a:ext>
            </a:extLst>
          </p:cNvPr>
          <p:cNvSpPr txBox="1"/>
          <p:nvPr/>
        </p:nvSpPr>
        <p:spPr>
          <a:xfrm>
            <a:off x="789710" y="1441114"/>
            <a:ext cx="6663213" cy="529375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List[]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OUT=open("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out.txt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'w')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[1:]: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IN=open(file, 'r')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Line in IN: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Line=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Line.strip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("\n")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List.append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(Line)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IN.close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OUT.write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(List + ("\n"))	</a:t>
            </a:r>
          </a:p>
          <a:p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OUT.close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4F713D-785F-F343-82C7-9C2D38BBC75A}"/>
              </a:ext>
            </a:extLst>
          </p:cNvPr>
          <p:cNvCxnSpPr>
            <a:cxnSpLocks/>
          </p:cNvCxnSpPr>
          <p:nvPr/>
        </p:nvCxnSpPr>
        <p:spPr>
          <a:xfrm flipH="1" flipV="1">
            <a:off x="4472247" y="5353859"/>
            <a:ext cx="2685012" cy="215444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347205-0F15-AD49-9EB6-A643C8ADE0DF}"/>
              </a:ext>
            </a:extLst>
          </p:cNvPr>
          <p:cNvSpPr txBox="1"/>
          <p:nvPr/>
        </p:nvSpPr>
        <p:spPr>
          <a:xfrm>
            <a:off x="7971310" y="2566222"/>
            <a:ext cx="3078480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Looping through </a:t>
            </a:r>
            <a:r>
              <a:rPr lang="en-US" sz="2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sys.argv</a:t>
            </a: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, from 1 to end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5E0DE3-0ADE-0744-9CC0-BF0AD01D2F99}"/>
              </a:ext>
            </a:extLst>
          </p:cNvPr>
          <p:cNvCxnSpPr>
            <a:cxnSpLocks/>
          </p:cNvCxnSpPr>
          <p:nvPr/>
        </p:nvCxnSpPr>
        <p:spPr>
          <a:xfrm flipH="1">
            <a:off x="5857289" y="1885833"/>
            <a:ext cx="1676401" cy="138779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C8034B6-7ED2-0F43-882A-2FECA6E22D04}"/>
              </a:ext>
            </a:extLst>
          </p:cNvPr>
          <p:cNvSpPr txBox="1"/>
          <p:nvPr/>
        </p:nvSpPr>
        <p:spPr>
          <a:xfrm>
            <a:off x="7847215" y="4490200"/>
            <a:ext cx="4239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Building a list, will grow with each line, and with each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95DFA-B9BD-B749-961A-C71DA67BA133}"/>
              </a:ext>
            </a:extLst>
          </p:cNvPr>
          <p:cNvSpPr txBox="1"/>
          <p:nvPr/>
        </p:nvSpPr>
        <p:spPr>
          <a:xfrm>
            <a:off x="7637903" y="1521879"/>
            <a:ext cx="277218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Open to write, above </a:t>
            </a:r>
            <a:r>
              <a:rPr lang="en-US" sz="2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for loop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86CAE8-3619-1D46-BB32-38B7B7CEEC67}"/>
              </a:ext>
            </a:extLst>
          </p:cNvPr>
          <p:cNvCxnSpPr>
            <a:cxnSpLocks/>
          </p:cNvCxnSpPr>
          <p:nvPr/>
        </p:nvCxnSpPr>
        <p:spPr>
          <a:xfrm flipH="1">
            <a:off x="6382376" y="4874921"/>
            <a:ext cx="1365086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28C17A-CA36-5E4A-BCCE-13536A2C5BD8}"/>
              </a:ext>
            </a:extLst>
          </p:cNvPr>
          <p:cNvSpPr txBox="1"/>
          <p:nvPr/>
        </p:nvSpPr>
        <p:spPr>
          <a:xfrm>
            <a:off x="7533690" y="5430305"/>
            <a:ext cx="4239491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Close IN each time through loop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B8F397-E6DE-384D-B81C-8049217E834F}"/>
              </a:ext>
            </a:extLst>
          </p:cNvPr>
          <p:cNvSpPr txBox="1"/>
          <p:nvPr/>
        </p:nvSpPr>
        <p:spPr>
          <a:xfrm>
            <a:off x="7533690" y="6303984"/>
            <a:ext cx="45775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Light" panose="020B0403020202020204" pitchFamily="34" charset="0"/>
              </a:rPr>
              <a:t>Close OUT once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17E530A-D716-A342-8EAD-7E163DAAFC0C}"/>
              </a:ext>
            </a:extLst>
          </p:cNvPr>
          <p:cNvCxnSpPr>
            <a:cxnSpLocks/>
          </p:cNvCxnSpPr>
          <p:nvPr/>
        </p:nvCxnSpPr>
        <p:spPr>
          <a:xfrm flipH="1">
            <a:off x="5863246" y="2921537"/>
            <a:ext cx="1983969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690A3C6-603A-0544-911E-DC6BDD13374A}"/>
              </a:ext>
            </a:extLst>
          </p:cNvPr>
          <p:cNvCxnSpPr>
            <a:cxnSpLocks/>
          </p:cNvCxnSpPr>
          <p:nvPr/>
        </p:nvCxnSpPr>
        <p:spPr>
          <a:xfrm flipH="1">
            <a:off x="4181302" y="6519427"/>
            <a:ext cx="3200400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09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/>
      <p:bldP spid="12" grpId="0" animBg="1"/>
      <p:bldP spid="16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B64472-E6BD-7E45-9BFE-306D4B3F3446}"/>
              </a:ext>
            </a:extLst>
          </p:cNvPr>
          <p:cNvSpPr txBox="1"/>
          <p:nvPr/>
        </p:nvSpPr>
        <p:spPr>
          <a:xfrm>
            <a:off x="3067036" y="498325"/>
            <a:ext cx="3972562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This weeks problem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13182-2CCF-F748-BA80-C508212C93D1}"/>
              </a:ext>
            </a:extLst>
          </p:cNvPr>
          <p:cNvSpPr txBox="1"/>
          <p:nvPr/>
        </p:nvSpPr>
        <p:spPr>
          <a:xfrm>
            <a:off x="755637" y="1889796"/>
            <a:ext cx="1057461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1. Read in 75 files, reformat data, and write to a single </a:t>
            </a:r>
            <a:r>
              <a:rPr lang="en-US" sz="2600" dirty="0" err="1">
                <a:latin typeface="Helvetica Light" panose="020B0403020202020204" pitchFamily="34" charset="0"/>
              </a:rPr>
              <a:t>outfile</a:t>
            </a:r>
            <a:endParaRPr lang="en-US" sz="2600" dirty="0">
              <a:latin typeface="Helvetica Light" panose="020B0403020202020204" pitchFamily="34" charset="0"/>
            </a:endParaRP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2. Use a for loop to go through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to read in and work on many many files (one at a time). 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- alternatively, you can use the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glob</a:t>
            </a:r>
            <a:r>
              <a:rPr lang="en-US" sz="2600" dirty="0">
                <a:latin typeface="Helvetica Light" panose="020B0403020202020204" pitchFamily="34" charset="0"/>
              </a:rPr>
              <a:t> (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glob.glob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)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library to process many arguments from within </a:t>
            </a:r>
            <a:r>
              <a:rPr lang="en-US" sz="2600" dirty="0" err="1">
                <a:latin typeface="Helvetica Light" panose="020B0403020202020204" pitchFamily="34" charset="0"/>
              </a:rPr>
              <a:t>Jupyter</a:t>
            </a:r>
            <a:r>
              <a:rPr lang="en-US" sz="2600" dirty="0">
                <a:latin typeface="Helvetica Light" panose="020B0403020202020204" pitchFamily="34" charset="0"/>
              </a:rPr>
              <a:t> notebooks. See primer for this week for a clear demonstration.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3. More work with lists and regular expressions</a:t>
            </a: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457200" indent="-45720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77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A738A-121B-9446-BC76-ACA0223DC19D}"/>
              </a:ext>
            </a:extLst>
          </p:cNvPr>
          <p:cNvSpPr txBox="1"/>
          <p:nvPr/>
        </p:nvSpPr>
        <p:spPr>
          <a:xfrm>
            <a:off x="592247" y="229985"/>
            <a:ext cx="260680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 err="1">
                <a:latin typeface="Helvetica Light" panose="020B0403020202020204" pitchFamily="34" charset="0"/>
                <a:cs typeface="Courier New" panose="02070309020205020404" pitchFamily="49" charset="0"/>
              </a:rPr>
              <a:t>LogTag</a:t>
            </a:r>
            <a:r>
              <a:rPr lang="en-US" sz="3300" dirty="0">
                <a:latin typeface="Helvetica Light" panose="020B0403020202020204" pitchFamily="34" charset="0"/>
                <a:cs typeface="Courier New" panose="02070309020205020404" pitchFamily="49" charset="0"/>
              </a:rPr>
              <a:t> data</a:t>
            </a:r>
            <a:endParaRPr lang="en-US" sz="3300" dirty="0">
              <a:latin typeface="Helvetica Light" panose="020B0403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CFEBA62-ADC2-054B-907B-67E5D9142DF7}"/>
              </a:ext>
            </a:extLst>
          </p:cNvPr>
          <p:cNvSpPr txBox="1">
            <a:spLocks/>
          </p:cNvSpPr>
          <p:nvPr/>
        </p:nvSpPr>
        <p:spPr>
          <a:xfrm>
            <a:off x="281940" y="1273629"/>
            <a:ext cx="5327741" cy="53543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38 Temp Loggers</a:t>
            </a:r>
          </a:p>
          <a:p>
            <a:pPr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20 </a:t>
            </a:r>
            <a:r>
              <a:rPr lang="en-US" dirty="0" err="1">
                <a:latin typeface="Helvetica Light" panose="020B0403020202020204" pitchFamily="34" charset="0"/>
              </a:rPr>
              <a:t>Haypile</a:t>
            </a:r>
            <a:r>
              <a:rPr lang="en-US" dirty="0">
                <a:latin typeface="Helvetica Light" panose="020B0403020202020204" pitchFamily="34" charset="0"/>
              </a:rPr>
              <a:t> Locations</a:t>
            </a:r>
          </a:p>
          <a:p>
            <a:pPr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2 loggers/ </a:t>
            </a:r>
            <a:r>
              <a:rPr lang="en-US" dirty="0" err="1">
                <a:latin typeface="Helvetica Light" panose="020B0403020202020204" pitchFamily="34" charset="0"/>
              </a:rPr>
              <a:t>haypile</a:t>
            </a: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Measure pika “microclimate”</a:t>
            </a:r>
          </a:p>
          <a:p>
            <a:pPr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Record temperature every half hour each year = 13-15,000 readings per year per temp logger</a:t>
            </a:r>
          </a:p>
          <a:p>
            <a:pPr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Crashes Excel ---one spreadsheet per logger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54084B3-6EDE-A245-8497-D7DC9081C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243" y="229985"/>
            <a:ext cx="3429000" cy="407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D15D63B0-065D-8D4A-9361-275888A62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241" y="2969098"/>
            <a:ext cx="2679443" cy="3572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15896BB4-300D-7C46-B8F7-7A9B3B7E4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1369" y="15068"/>
            <a:ext cx="1841083" cy="2613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>
            <a:extLst>
              <a:ext uri="{FF2B5EF4-FFF2-40B4-BE49-F238E27FC236}">
                <a16:creationId xmlns:a16="http://schemas.microsoft.com/office/drawing/2014/main" id="{98A34ED2-B06B-4743-824C-89B01C5B5B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693" y="4440761"/>
            <a:ext cx="3086100" cy="2306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427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3639E-51D7-6A4D-8012-CF7EDE5D52AE}"/>
              </a:ext>
            </a:extLst>
          </p:cNvPr>
          <p:cNvSpPr txBox="1"/>
          <p:nvPr/>
        </p:nvSpPr>
        <p:spPr>
          <a:xfrm>
            <a:off x="3145513" y="369749"/>
            <a:ext cx="59009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Data and Problem 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EC69F-9647-5C4D-923C-B9141A0E7C88}"/>
              </a:ext>
            </a:extLst>
          </p:cNvPr>
          <p:cNvSpPr txBox="1"/>
          <p:nvPr/>
        </p:nvSpPr>
        <p:spPr>
          <a:xfrm>
            <a:off x="670560" y="1362109"/>
            <a:ext cx="115214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1. 75 files in </a:t>
            </a:r>
            <a:r>
              <a:rPr lang="en-US" sz="2400" dirty="0" err="1">
                <a:latin typeface="Helvetica Light" panose="020B0403020202020204" pitchFamily="34" charset="0"/>
              </a:rPr>
              <a:t>gzipped</a:t>
            </a:r>
            <a:r>
              <a:rPr lang="en-US" sz="2400" dirty="0">
                <a:latin typeface="Helvetica Light" panose="020B0403020202020204" pitchFamily="34" charset="0"/>
              </a:rPr>
              <a:t> directory (</a:t>
            </a:r>
            <a:r>
              <a:rPr lang="en-US" sz="2400" dirty="0" err="1">
                <a:latin typeface="Helvetica Light" panose="020B0403020202020204" pitchFamily="34" charset="0"/>
              </a:rPr>
              <a:t>logfiles.tgz</a:t>
            </a:r>
            <a:r>
              <a:rPr lang="en-US" sz="2400" dirty="0">
                <a:latin typeface="Helvetica Light" panose="020B0403020202020204" pitchFamily="34" charset="0"/>
              </a:rPr>
              <a:t>) can be downloaded from course website.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2. Each file has information in its name that describes the logger information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3. Each file has 4 columns of data that we want to extract. Date, time, AM or PM, and a temperature</a:t>
            </a:r>
          </a:p>
        </p:txBody>
      </p:sp>
      <p:pic>
        <p:nvPicPr>
          <p:cNvPr id="8" name="Picture 7" descr="Screen Shot 2015-10-23 at 2.19.40 PM.png">
            <a:extLst>
              <a:ext uri="{FF2B5EF4-FFF2-40B4-BE49-F238E27FC236}">
                <a16:creationId xmlns:a16="http://schemas.microsoft.com/office/drawing/2014/main" id="{8933F4B4-5F77-3344-9AEC-46E752007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45" y="4000500"/>
            <a:ext cx="60452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5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F9EC69F-9647-5C4D-923C-B9141A0E7C88}"/>
              </a:ext>
            </a:extLst>
          </p:cNvPr>
          <p:cNvSpPr txBox="1"/>
          <p:nvPr/>
        </p:nvSpPr>
        <p:spPr>
          <a:xfrm>
            <a:off x="517680" y="339619"/>
            <a:ext cx="114220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latin typeface="Helvetica Light" panose="020B0403020202020204" pitchFamily="34" charset="0"/>
              </a:rPr>
              <a:t>Use regular expression to extract logger information from file name (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1901302228</a:t>
            </a:r>
            <a:r>
              <a:rPr lang="en-US" sz="2400" dirty="0">
                <a:latin typeface="Helvetica Light" panose="020B0403020202020204" pitchFamily="34" charset="0"/>
              </a:rPr>
              <a:t>_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H4</a:t>
            </a:r>
            <a:r>
              <a:rPr lang="en-US" sz="2400" dirty="0">
                <a:latin typeface="Helvetica Light" panose="020B0403020202020204" pitchFamily="34" charset="0"/>
              </a:rPr>
              <a:t>_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D</a:t>
            </a:r>
            <a:r>
              <a:rPr lang="en-US" sz="2400" dirty="0">
                <a:latin typeface="Helvetica Light" panose="020B0403020202020204" pitchFamily="34" charset="0"/>
              </a:rPr>
              <a:t>_</a:t>
            </a:r>
            <a:r>
              <a:rPr lang="en-US" sz="2400" b="1" dirty="0">
                <a:solidFill>
                  <a:srgbClr val="FF0000"/>
                </a:solidFill>
                <a:latin typeface="Helvetica Light" panose="020B0403020202020204" pitchFamily="34" charset="0"/>
              </a:rPr>
              <a:t>13</a:t>
            </a:r>
            <a:r>
              <a:rPr lang="en-US" sz="2400" dirty="0">
                <a:latin typeface="Helvetica Light" panose="020B0403020202020204" pitchFamily="34" charset="0"/>
              </a:rPr>
              <a:t>.txt.txt). </a:t>
            </a:r>
            <a:r>
              <a:rPr lang="en-US" sz="2400">
                <a:latin typeface="Helvetica Light" panose="020B0403020202020204" pitchFamily="34" charset="0"/>
              </a:rPr>
              <a:t>This </a:t>
            </a:r>
            <a:r>
              <a:rPr lang="en-US" sz="2400" dirty="0">
                <a:latin typeface="Helvetica Light" panose="020B0403020202020204" pitchFamily="34" charset="0"/>
              </a:rPr>
              <a:t>could be as </a:t>
            </a:r>
            <a:r>
              <a:rPr lang="en-US" sz="2400">
                <a:latin typeface="Helvetica Light" panose="020B0403020202020204" pitchFamily="34" charset="0"/>
              </a:rPr>
              <a:t>simple as: </a:t>
            </a:r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	</a:t>
            </a:r>
            <a:r>
              <a:rPr lang="en-US" sz="2400" dirty="0"/>
              <a:t>result = </a:t>
            </a:r>
            <a:r>
              <a:rPr lang="en-US" sz="2400" dirty="0" err="1"/>
              <a:t>re.sub</a:t>
            </a:r>
            <a:r>
              <a:rPr lang="en-US" sz="2400" dirty="0"/>
              <a:t>('.</a:t>
            </a:r>
            <a:r>
              <a:rPr lang="en-US" sz="2400" dirty="0" err="1"/>
              <a:t>txt.txt</a:t>
            </a:r>
            <a:r>
              <a:rPr lang="en-US" sz="2400" dirty="0"/>
              <a:t>', '', Seq) </a:t>
            </a:r>
          </a:p>
          <a:p>
            <a:pPr marL="457200" indent="-457200">
              <a:buAutoNum type="arabicPeriod"/>
            </a:pPr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2. Store data from each of four </a:t>
            </a:r>
            <a:r>
              <a:rPr lang="en-US" sz="2400" dirty="0" err="1">
                <a:latin typeface="Helvetica Light" panose="020B0403020202020204" pitchFamily="34" charset="0"/>
              </a:rPr>
              <a:t>infile</a:t>
            </a:r>
            <a:r>
              <a:rPr lang="en-US" sz="2400" dirty="0">
                <a:latin typeface="Helvetica Light" panose="020B0403020202020204" pitchFamily="34" charset="0"/>
              </a:rPr>
              <a:t> columns into lists for each variable, build those lines each time through a for loop.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Helvetica Light" panose="020B0403020202020204" pitchFamily="34" charset="0"/>
              </a:rPr>
              <a:t>3. Write all of the data to a single </a:t>
            </a:r>
            <a:r>
              <a:rPr lang="en-US" sz="2400" dirty="0" err="1">
                <a:latin typeface="Helvetica Light" panose="020B0403020202020204" pitchFamily="34" charset="0"/>
              </a:rPr>
              <a:t>outfile</a:t>
            </a:r>
            <a:r>
              <a:rPr lang="en-US" sz="2400" dirty="0">
                <a:latin typeface="Helvetica Light" panose="020B0403020202020204" pitchFamily="34" charset="0"/>
              </a:rPr>
              <a:t> with 4 rows from each input file, as below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52F71A3-3E3B-214E-B6BD-6C14A5ED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59" y="4178091"/>
            <a:ext cx="9767676" cy="222270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1B8886-B80C-D941-B262-9D84C59EDC6F}"/>
              </a:ext>
            </a:extLst>
          </p:cNvPr>
          <p:cNvCxnSpPr/>
          <p:nvPr/>
        </p:nvCxnSpPr>
        <p:spPr>
          <a:xfrm>
            <a:off x="189259" y="4106487"/>
            <a:ext cx="2460568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CF0307-094A-0844-BEE3-8619BB02881E}"/>
              </a:ext>
            </a:extLst>
          </p:cNvPr>
          <p:cNvSpPr txBox="1"/>
          <p:nvPr/>
        </p:nvSpPr>
        <p:spPr>
          <a:xfrm>
            <a:off x="290273" y="3737155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Info from file name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DFD143-D71E-C64A-B145-803589615A75}"/>
              </a:ext>
            </a:extLst>
          </p:cNvPr>
          <p:cNvSpPr txBox="1"/>
          <p:nvPr/>
        </p:nvSpPr>
        <p:spPr>
          <a:xfrm>
            <a:off x="9956935" y="4106487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DA77AF-0926-3B42-99C0-7466B28165E7}"/>
              </a:ext>
            </a:extLst>
          </p:cNvPr>
          <p:cNvSpPr txBox="1"/>
          <p:nvPr/>
        </p:nvSpPr>
        <p:spPr>
          <a:xfrm>
            <a:off x="9956935" y="441263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3E58B-82FA-4C4D-921D-E51CEAD6C08E}"/>
              </a:ext>
            </a:extLst>
          </p:cNvPr>
          <p:cNvSpPr txBox="1"/>
          <p:nvPr/>
        </p:nvSpPr>
        <p:spPr>
          <a:xfrm>
            <a:off x="9975329" y="467876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AM/PM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E777A4-86AA-8443-88C4-D874D7180CD7}"/>
              </a:ext>
            </a:extLst>
          </p:cNvPr>
          <p:cNvSpPr txBox="1"/>
          <p:nvPr/>
        </p:nvSpPr>
        <p:spPr>
          <a:xfrm>
            <a:off x="9956935" y="4935030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Temp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2C1EED-0DE7-CA46-B40A-601B134747FE}"/>
              </a:ext>
            </a:extLst>
          </p:cNvPr>
          <p:cNvSpPr txBox="1"/>
          <p:nvPr/>
        </p:nvSpPr>
        <p:spPr>
          <a:xfrm>
            <a:off x="10993556" y="4291153"/>
            <a:ext cx="1164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File1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1</a:t>
            </a:r>
            <a:r>
              <a:rPr lang="en-US" b="1" baseline="30000" dirty="0">
                <a:latin typeface="Helvetica Light" panose="020B0403020202020204" pitchFamily="34" charset="0"/>
              </a:rPr>
              <a:t>st</a:t>
            </a:r>
            <a:r>
              <a:rPr lang="en-US" b="1" dirty="0">
                <a:latin typeface="Helvetica Light" panose="020B0403020202020204" pitchFamily="34" charset="0"/>
              </a:rPr>
              <a:t> 4 lines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80FC289-BDAA-DF45-827A-B1C52BDA65D5}"/>
              </a:ext>
            </a:extLst>
          </p:cNvPr>
          <p:cNvCxnSpPr>
            <a:cxnSpLocks/>
          </p:cNvCxnSpPr>
          <p:nvPr/>
        </p:nvCxnSpPr>
        <p:spPr>
          <a:xfrm>
            <a:off x="10903788" y="4150814"/>
            <a:ext cx="0" cy="1055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67CAB1D-C1E6-7140-93D4-5E295B3F27C7}"/>
              </a:ext>
            </a:extLst>
          </p:cNvPr>
          <p:cNvCxnSpPr>
            <a:cxnSpLocks/>
          </p:cNvCxnSpPr>
          <p:nvPr/>
        </p:nvCxnSpPr>
        <p:spPr>
          <a:xfrm>
            <a:off x="10823432" y="5289444"/>
            <a:ext cx="0" cy="1055894"/>
          </a:xfrm>
          <a:prstGeom prst="line">
            <a:avLst/>
          </a:prstGeom>
          <a:ln w="254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9ED8FC1-C91D-3E46-BFEF-0D606E07A6AC}"/>
              </a:ext>
            </a:extLst>
          </p:cNvPr>
          <p:cNvSpPr txBox="1"/>
          <p:nvPr/>
        </p:nvSpPr>
        <p:spPr>
          <a:xfrm>
            <a:off x="10915359" y="5494225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Helvetica Light" panose="020B0403020202020204" pitchFamily="34" charset="0"/>
              </a:rPr>
              <a:t>File2</a:t>
            </a:r>
          </a:p>
          <a:p>
            <a:r>
              <a:rPr lang="en-US" b="1" dirty="0">
                <a:latin typeface="Helvetica Light" panose="020B0403020202020204" pitchFamily="34" charset="0"/>
              </a:rPr>
              <a:t>2</a:t>
            </a:r>
            <a:r>
              <a:rPr lang="en-US" b="1" baseline="30000" dirty="0">
                <a:latin typeface="Helvetica Light" panose="020B0403020202020204" pitchFamily="34" charset="0"/>
              </a:rPr>
              <a:t>nd</a:t>
            </a:r>
            <a:r>
              <a:rPr lang="en-US" b="1" dirty="0">
                <a:latin typeface="Helvetica Light" panose="020B0403020202020204" pitchFamily="34" charset="0"/>
              </a:rPr>
              <a:t> 4 lines</a:t>
            </a:r>
          </a:p>
        </p:txBody>
      </p:sp>
    </p:spTree>
    <p:extLst>
      <p:ext uri="{BB962C8B-B14F-4D97-AF65-F5344CB8AC3E}">
        <p14:creationId xmlns:p14="http://schemas.microsoft.com/office/powerpoint/2010/main" val="1845970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3639E-51D7-6A4D-8012-CF7EDE5D52AE}"/>
              </a:ext>
            </a:extLst>
          </p:cNvPr>
          <p:cNvSpPr txBox="1"/>
          <p:nvPr/>
        </p:nvSpPr>
        <p:spPr>
          <a:xfrm>
            <a:off x="950953" y="333088"/>
            <a:ext cx="1083982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Hints: capturing and storing regular expression matches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CFB63-59AE-784A-B68D-0535ADD9D144}"/>
              </a:ext>
            </a:extLst>
          </p:cNvPr>
          <p:cNvSpPr txBox="1"/>
          <p:nvPr/>
        </p:nvSpPr>
        <p:spPr>
          <a:xfrm>
            <a:off x="643383" y="1637608"/>
            <a:ext cx="11027687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Line = "1865878 Colorado"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Match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re.search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("(\d+)\s(\w+)", Line)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Digits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Match.group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Letters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Match.group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For a pattern such as “1865878 Colorado”,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Match.group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(1) 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would store “1865878” and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Match.group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sz="2600" dirty="0">
                <a:latin typeface="Helvetica Light" panose="020B0403020202020204" pitchFamily="34" charset="0"/>
                <a:cs typeface="Courier New" panose="02070309020205020404" pitchFamily="49" charset="0"/>
              </a:rPr>
              <a:t>would store “Colorado”</a:t>
            </a:r>
          </a:p>
          <a:p>
            <a:endParaRPr lang="en-US" sz="2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993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23639E-51D7-6A4D-8012-CF7EDE5D52AE}"/>
              </a:ext>
            </a:extLst>
          </p:cNvPr>
          <p:cNvSpPr txBox="1"/>
          <p:nvPr/>
        </p:nvSpPr>
        <p:spPr>
          <a:xfrm>
            <a:off x="950953" y="333088"/>
            <a:ext cx="726833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Hints: dealing with </a:t>
            </a:r>
            <a:r>
              <a:rPr lang="en-US" sz="3300" b="1" dirty="0">
                <a:latin typeface="Helvetica Light" panose="020B0403020202020204" pitchFamily="34" charset="0"/>
              </a:rPr>
              <a:t>sinister</a:t>
            </a:r>
            <a:r>
              <a:rPr lang="en-US" sz="3300" dirty="0">
                <a:latin typeface="Helvetica Light" panose="020B0403020202020204" pitchFamily="34" charset="0"/>
              </a:rPr>
              <a:t> characters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9CFB63-59AE-784A-B68D-0535ADD9D144}"/>
              </a:ext>
            </a:extLst>
          </p:cNvPr>
          <p:cNvSpPr txBox="1"/>
          <p:nvPr/>
        </p:nvSpPr>
        <p:spPr>
          <a:xfrm>
            <a:off x="155170" y="4119971"/>
            <a:ext cx="121559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import codecs</a:t>
            </a:r>
          </a:p>
          <a:p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for file in 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sys.argv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[1:]:</a:t>
            </a:r>
          </a:p>
          <a:p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IN = </a:t>
            </a:r>
            <a:r>
              <a:rPr lang="en-US" sz="23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codecs.open</a:t>
            </a:r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(file, 'r', encoding='utf-8', errors='ignore')</a:t>
            </a:r>
          </a:p>
          <a:p>
            <a:r>
              <a:rPr lang="en-US" sz="2300" b="1" dirty="0">
                <a:latin typeface="Courier New" panose="02070309020205020404" pitchFamily="49" charset="0"/>
                <a:cs typeface="Courier New" panose="02070309020205020404" pitchFamily="49" charset="0"/>
              </a:rPr>
              <a:t>	for Line in IN: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BC4CC-2ADB-4A40-BD8E-928CACCDEF41}"/>
              </a:ext>
            </a:extLst>
          </p:cNvPr>
          <p:cNvSpPr txBox="1"/>
          <p:nvPr/>
        </p:nvSpPr>
        <p:spPr>
          <a:xfrm>
            <a:off x="346363" y="1201779"/>
            <a:ext cx="1149927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The data stored from some these loggers has some strange null characters that need to be removed and guarded against. Two things will help.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1. Use a safer option for reading text from these files, with the 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codecs</a:t>
            </a:r>
            <a:r>
              <a:rPr lang="en-US" sz="2600" dirty="0">
                <a:latin typeface="Helvetica Light" panose="020B0403020202020204" pitchFamily="34" charset="0"/>
              </a:rPr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201404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E7B7A4-5893-3445-8C74-74E7647B13E6}"/>
              </a:ext>
            </a:extLst>
          </p:cNvPr>
          <p:cNvSpPr/>
          <p:nvPr/>
        </p:nvSpPr>
        <p:spPr>
          <a:xfrm>
            <a:off x="1895303" y="4181269"/>
            <a:ext cx="1052391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600" b="1" dirty="0">
              <a:solidFill>
                <a:srgbClr val="D4D4D4"/>
              </a:solidFill>
              <a:latin typeface="Menlo" panose="020B0609030804020204" pitchFamily="49" charset="0"/>
              <a:cs typeface="Courier New" panose="02070309020205020404" pitchFamily="49" charset="0"/>
            </a:endParaRPr>
          </a:p>
          <a:p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stripped = </a:t>
            </a:r>
            <a:r>
              <a:rPr lang="en-US" sz="2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stripped.replace</a:t>
            </a: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("\0","")</a:t>
            </a:r>
            <a:br>
              <a:rPr lang="en-US" sz="2600" dirty="0">
                <a:solidFill>
                  <a:srgbClr val="D4D4D4"/>
                </a:solidFill>
                <a:latin typeface="Menlo" panose="020B0609030804020204" pitchFamily="49" charset="0"/>
              </a:rPr>
            </a:br>
            <a:endParaRPr lang="en-US" sz="2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9F4A6-342A-4C4D-9EBD-9694EA93478F}"/>
              </a:ext>
            </a:extLst>
          </p:cNvPr>
          <p:cNvSpPr txBox="1"/>
          <p:nvPr/>
        </p:nvSpPr>
        <p:spPr>
          <a:xfrm>
            <a:off x="950953" y="333088"/>
            <a:ext cx="726833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Hints: dealing with </a:t>
            </a:r>
            <a:r>
              <a:rPr lang="en-US" sz="3300" b="1" dirty="0">
                <a:latin typeface="Helvetica Light" panose="020B0403020202020204" pitchFamily="34" charset="0"/>
              </a:rPr>
              <a:t>sinister</a:t>
            </a:r>
            <a:r>
              <a:rPr lang="en-US" sz="3300" dirty="0">
                <a:latin typeface="Helvetica Light" panose="020B0403020202020204" pitchFamily="34" charset="0"/>
              </a:rPr>
              <a:t> characters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25BF6-1B51-B744-8072-35FB4937F993}"/>
              </a:ext>
            </a:extLst>
          </p:cNvPr>
          <p:cNvSpPr txBox="1"/>
          <p:nvPr/>
        </p:nvSpPr>
        <p:spPr>
          <a:xfrm>
            <a:off x="512616" y="1160216"/>
            <a:ext cx="1149927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The data stored from these loggers has some strange special characters that need to be removed and guarded against. Two things will help.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2. There are additional problematic NULL characters in *some* of these files. To guard against them, a line of code as below will work for cleaning these things out of each line in each file.</a:t>
            </a:r>
          </a:p>
        </p:txBody>
      </p:sp>
    </p:spTree>
    <p:extLst>
      <p:ext uri="{BB962C8B-B14F-4D97-AF65-F5344CB8AC3E}">
        <p14:creationId xmlns:p14="http://schemas.microsoft.com/office/powerpoint/2010/main" val="1007004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337325" y="1807940"/>
            <a:ext cx="677300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AutoNum type="romanUcPeriod"/>
            </a:pPr>
            <a:r>
              <a:rPr lang="en-US" sz="2800" b="1" dirty="0">
                <a:latin typeface="Helvetica Light" panose="020B0403020202020204" pitchFamily="34" charset="0"/>
              </a:rPr>
              <a:t>Catch up from last week if needed</a:t>
            </a:r>
          </a:p>
          <a:p>
            <a:pPr marL="571500" indent="-571500">
              <a:buAutoNum type="romanUcPeriod"/>
            </a:pPr>
            <a:endParaRPr lang="en-US" sz="2800" dirty="0">
              <a:latin typeface="Helvetica Light" panose="020B0403020202020204" pitchFamily="34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</a:rPr>
              <a:t>II.  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  <a:cs typeface="Courier New" panose="02070309020205020404" pitchFamily="49" charset="0"/>
              </a:rPr>
              <a:t>python_5_primer.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Helvetica Light" panose="020B0403020202020204" pitchFamily="34" charset="0"/>
                <a:cs typeface="Courier New" panose="02070309020205020404" pitchFamily="49" charset="0"/>
              </a:rPr>
              <a:t>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28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III.   </a:t>
            </a:r>
            <a:r>
              <a:rPr lang="en-US" sz="28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assignment_python5.md</a:t>
            </a:r>
          </a:p>
          <a:p>
            <a:endParaRPr lang="en-US" sz="2800" dirty="0">
              <a:latin typeface="Helvetica Light" panose="020B0403020202020204" pitchFamily="34" charset="0"/>
              <a:cs typeface="Courier New" panose="02070309020205020404" pitchFamily="49" charset="0"/>
            </a:endParaRPr>
          </a:p>
          <a:p>
            <a:r>
              <a:rPr lang="en-US" sz="3200" b="1" dirty="0">
                <a:latin typeface="Helvetica Light" panose="020B0403020202020204" pitchFamily="34" charset="0"/>
                <a:cs typeface="Courier New" panose="02070309020205020404" pitchFamily="49" charset="0"/>
              </a:rPr>
              <a:t>IV.  Turn in data management script</a:t>
            </a:r>
            <a:endParaRPr lang="en-US" sz="3200" b="1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4872748" y="288627"/>
            <a:ext cx="267893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For this week</a:t>
            </a:r>
          </a:p>
        </p:txBody>
      </p:sp>
    </p:spTree>
    <p:extLst>
      <p:ext uri="{BB962C8B-B14F-4D97-AF65-F5344CB8AC3E}">
        <p14:creationId xmlns:p14="http://schemas.microsoft.com/office/powerpoint/2010/main" val="3469319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3CFDD-50BC-2B4B-8177-45608F650DD1}"/>
              </a:ext>
            </a:extLst>
          </p:cNvPr>
          <p:cNvSpPr txBox="1"/>
          <p:nvPr/>
        </p:nvSpPr>
        <p:spPr>
          <a:xfrm>
            <a:off x="3363521" y="289503"/>
            <a:ext cx="54649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Semester through November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6D021-662C-0F47-96D3-C40D09A04604}"/>
              </a:ext>
            </a:extLst>
          </p:cNvPr>
          <p:cNvSpPr txBox="1"/>
          <p:nvPr/>
        </p:nvSpPr>
        <p:spPr>
          <a:xfrm>
            <a:off x="325569" y="1582340"/>
            <a:ext cx="1174030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Week of </a:t>
            </a:r>
            <a:r>
              <a:rPr lang="en-US" sz="2600" b="1" dirty="0">
                <a:latin typeface="Helvetica Light" panose="020B0403020202020204" pitchFamily="34" charset="0"/>
              </a:rPr>
              <a:t>10/28, 10/30</a:t>
            </a:r>
            <a:r>
              <a:rPr lang="en-US" sz="2600" dirty="0">
                <a:latin typeface="Helvetica Light" panose="020B0403020202020204" pitchFamily="34" charset="0"/>
              </a:rPr>
              <a:t>		Reading many files at one, data 							management problem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Week of </a:t>
            </a:r>
            <a:r>
              <a:rPr lang="en-US" sz="2600" b="1" dirty="0">
                <a:latin typeface="Helvetica Light" panose="020B0403020202020204" pitchFamily="34" charset="0"/>
              </a:rPr>
              <a:t>11/4, 11/6		Dictionaries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dirty="0">
                <a:latin typeface="Helvetica Light" panose="020B0403020202020204" pitchFamily="34" charset="0"/>
              </a:rPr>
              <a:t>Week of </a:t>
            </a:r>
            <a:r>
              <a:rPr lang="en-US" sz="2600" b="1" dirty="0">
                <a:latin typeface="Helvetica Light" panose="020B0403020202020204" pitchFamily="34" charset="0"/>
              </a:rPr>
              <a:t>11/11, 11/14		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and</a:t>
            </a:r>
            <a:r>
              <a:rPr lang="en-US" sz="2600" b="1" dirty="0">
                <a:latin typeface="Helvetica Light" panose="020B0403020202020204" pitchFamily="34" charset="0"/>
              </a:rPr>
              <a:t> Pandas: </a:t>
            </a:r>
            <a:r>
              <a:rPr lang="en-US" sz="2600" dirty="0">
                <a:latin typeface="Helvetica Light" panose="020B0403020202020204" pitchFamily="34" charset="0"/>
              </a:rPr>
              <a:t>Data Science modules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Week of 11/19, 11/21		</a:t>
            </a:r>
            <a:r>
              <a:rPr lang="en-US" sz="2600" b="1" dirty="0" err="1">
                <a:latin typeface="Helvetica Light" panose="020B0403020202020204" pitchFamily="34" charset="0"/>
              </a:rPr>
              <a:t>Numpy</a:t>
            </a:r>
            <a:r>
              <a:rPr lang="en-US" sz="2600" b="1" dirty="0">
                <a:latin typeface="Helvetica Light" panose="020B0403020202020204" pitchFamily="34" charset="0"/>
              </a:rPr>
              <a:t> </a:t>
            </a:r>
            <a:r>
              <a:rPr lang="en-US" sz="2600" dirty="0">
                <a:latin typeface="Helvetica Light" panose="020B0403020202020204" pitchFamily="34" charset="0"/>
              </a:rPr>
              <a:t>and</a:t>
            </a:r>
            <a:r>
              <a:rPr lang="en-US" sz="2600" b="1" dirty="0">
                <a:latin typeface="Helvetica Light" panose="020B0403020202020204" pitchFamily="34" charset="0"/>
              </a:rPr>
              <a:t> Pandas </a:t>
            </a:r>
            <a:r>
              <a:rPr lang="en-US" sz="2600" dirty="0">
                <a:latin typeface="Helvetica Light" panose="020B0403020202020204" pitchFamily="34" charset="0"/>
              </a:rPr>
              <a:t>continued</a:t>
            </a:r>
          </a:p>
          <a:p>
            <a:endParaRPr lang="en-US" sz="2600" b="1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Week of 11/28			independent project work (Tuesday 						before Thanksgiving).</a:t>
            </a:r>
          </a:p>
        </p:txBody>
      </p:sp>
    </p:spTree>
    <p:extLst>
      <p:ext uri="{BB962C8B-B14F-4D97-AF65-F5344CB8AC3E}">
        <p14:creationId xmlns:p14="http://schemas.microsoft.com/office/powerpoint/2010/main" val="2772433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31090</TotalTime>
  <Words>1728</Words>
  <Application>Microsoft Macintosh PowerPoint</Application>
  <PresentationFormat>Widescreen</PresentationFormat>
  <Paragraphs>217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Helvetica Light</vt:lpstr>
      <vt:lpstr>Helvetica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122</cp:revision>
  <cp:lastPrinted>2020-10-13T03:08:35Z</cp:lastPrinted>
  <dcterms:created xsi:type="dcterms:W3CDTF">2020-10-06T23:54:18Z</dcterms:created>
  <dcterms:modified xsi:type="dcterms:W3CDTF">2025-10-28T19:03:00Z</dcterms:modified>
</cp:coreProperties>
</file>